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8" d="100"/>
          <a:sy n="98" d="100"/>
        </p:scale>
        <p:origin x="1044" y="7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hua Hetrick" userId="1c9018af-1061-49bf-9b24-ee273d18a10b" providerId="ADAL" clId="{7DB8041F-CA9C-4D03-A162-052D476E7078}"/>
    <pc:docChg chg="custSel modSld">
      <pc:chgData name="Joshua Hetrick" userId="1c9018af-1061-49bf-9b24-ee273d18a10b" providerId="ADAL" clId="{7DB8041F-CA9C-4D03-A162-052D476E7078}" dt="2026-07-11T13:00:29.385" v="4" actId="26606"/>
      <pc:docMkLst>
        <pc:docMk/>
      </pc:docMkLst>
      <pc:sldChg chg="addSp delSp modSp mod">
        <pc:chgData name="Joshua Hetrick" userId="1c9018af-1061-49bf-9b24-ee273d18a10b" providerId="ADAL" clId="{7DB8041F-CA9C-4D03-A162-052D476E7078}" dt="2026-07-11T13:00:29.385" v="4" actId="26606"/>
        <pc:sldMkLst>
          <pc:docMk/>
          <pc:sldMk cId="0" sldId="257"/>
        </pc:sldMkLst>
        <pc:spChg chg="add mod">
          <ac:chgData name="Joshua Hetrick" userId="1c9018af-1061-49bf-9b24-ee273d18a10b" providerId="ADAL" clId="{7DB8041F-CA9C-4D03-A162-052D476E7078}" dt="2026-07-11T13:00:29.385" v="4" actId="26606"/>
          <ac:spMkLst>
            <pc:docMk/>
            <pc:sldMk cId="0" sldId="257"/>
            <ac:spMk id="5" creationId="{00000000-0000-0000-0000-000000000000}"/>
          </ac:spMkLst>
        </pc:spChg>
        <pc:spChg chg="mod">
          <ac:chgData name="Joshua Hetrick" userId="1c9018af-1061-49bf-9b24-ee273d18a10b" providerId="ADAL" clId="{7DB8041F-CA9C-4D03-A162-052D476E7078}" dt="2026-07-11T13:00:29.385" v="4" actId="26606"/>
          <ac:spMkLst>
            <pc:docMk/>
            <pc:sldMk cId="0" sldId="257"/>
            <ac:spMk id="6" creationId="{00000000-0000-0000-0000-000000000000}"/>
          </ac:spMkLst>
        </pc:spChg>
        <pc:spChg chg="mod">
          <ac:chgData name="Joshua Hetrick" userId="1c9018af-1061-49bf-9b24-ee273d18a10b" providerId="ADAL" clId="{7DB8041F-CA9C-4D03-A162-052D476E7078}" dt="2026-07-11T12:54:31.713" v="2" actId="26606"/>
          <ac:spMkLst>
            <pc:docMk/>
            <pc:sldMk cId="0" sldId="257"/>
            <ac:spMk id="7" creationId="{00000000-0000-0000-0000-000000000000}"/>
          </ac:spMkLst>
        </pc:spChg>
        <pc:spChg chg="add">
          <ac:chgData name="Joshua Hetrick" userId="1c9018af-1061-49bf-9b24-ee273d18a10b" providerId="ADAL" clId="{7DB8041F-CA9C-4D03-A162-052D476E7078}" dt="2026-07-11T12:54:31.713" v="2" actId="26606"/>
          <ac:spMkLst>
            <pc:docMk/>
            <pc:sldMk cId="0" sldId="257"/>
            <ac:spMk id="8" creationId="{00000000-0000-0000-0000-000000000000}"/>
          </ac:spMkLst>
        </pc:spChg>
        <pc:spChg chg="add del">
          <ac:chgData name="Joshua Hetrick" userId="1c9018af-1061-49bf-9b24-ee273d18a10b" providerId="ADAL" clId="{7DB8041F-CA9C-4D03-A162-052D476E7078}" dt="2026-07-11T12:54:31.713" v="2" actId="26606"/>
          <ac:spMkLst>
            <pc:docMk/>
            <pc:sldMk cId="0" sldId="257"/>
            <ac:spMk id="9" creationId="{00000000-0000-0000-0000-000000000000}"/>
          </ac:spMkLst>
        </pc:spChg>
        <pc:spChg chg="add del">
          <ac:chgData name="Joshua Hetrick" userId="1c9018af-1061-49bf-9b24-ee273d18a10b" providerId="ADAL" clId="{7DB8041F-CA9C-4D03-A162-052D476E7078}" dt="2026-07-11T12:54:31.713" v="2" actId="26606"/>
          <ac:spMkLst>
            <pc:docMk/>
            <pc:sldMk cId="0" sldId="257"/>
            <ac:spMk id="10" creationId="{00000000-0000-0000-0000-000000000000}"/>
          </ac:spMkLst>
        </pc:spChg>
        <pc:spChg chg="add del">
          <ac:chgData name="Joshua Hetrick" userId="1c9018af-1061-49bf-9b24-ee273d18a10b" providerId="ADAL" clId="{7DB8041F-CA9C-4D03-A162-052D476E7078}" dt="2026-07-11T12:54:31.713" v="2" actId="26606"/>
          <ac:spMkLst>
            <pc:docMk/>
            <pc:sldMk cId="0" sldId="257"/>
            <ac:spMk id="11" creationId="{00000000-0000-0000-0000-000000000000}"/>
          </ac:spMkLst>
        </pc:spChg>
        <pc:spChg chg="del mod replId">
          <ac:chgData name="Joshua Hetrick" userId="1c9018af-1061-49bf-9b24-ee273d18a10b" providerId="ADAL" clId="{7DB8041F-CA9C-4D03-A162-052D476E7078}" dt="2026-07-11T12:54:31.713" v="2" actId="26606"/>
          <ac:spMkLst>
            <pc:docMk/>
            <pc:sldMk cId="0" sldId="257"/>
            <ac:spMk id="12" creationId="{00000000-0000-0000-0000-000000000000}"/>
          </ac:spMkLst>
        </pc:spChg>
        <pc:spChg chg="del mod replId">
          <ac:chgData name="Joshua Hetrick" userId="1c9018af-1061-49bf-9b24-ee273d18a10b" providerId="ADAL" clId="{7DB8041F-CA9C-4D03-A162-052D476E7078}" dt="2026-07-11T12:54:31.713" v="2" actId="26606"/>
          <ac:spMkLst>
            <pc:docMk/>
            <pc:sldMk cId="0" sldId="257"/>
            <ac:spMk id="13" creationId="{00000000-0000-0000-0000-000000000000}"/>
          </ac:spMkLst>
        </pc:spChg>
        <pc:spChg chg="del mod replId">
          <ac:chgData name="Joshua Hetrick" userId="1c9018af-1061-49bf-9b24-ee273d18a10b" providerId="ADAL" clId="{7DB8041F-CA9C-4D03-A162-052D476E7078}" dt="2026-07-11T12:54:31.713" v="2" actId="26606"/>
          <ac:spMkLst>
            <pc:docMk/>
            <pc:sldMk cId="0" sldId="257"/>
            <ac:spMk id="14" creationId="{00000000-0000-0000-0000-000000000000}"/>
          </ac:spMkLst>
        </pc:spChg>
        <pc:picChg chg="mod">
          <ac:chgData name="Joshua Hetrick" userId="1c9018af-1061-49bf-9b24-ee273d18a10b" providerId="ADAL" clId="{7DB8041F-CA9C-4D03-A162-052D476E7078}" dt="2026-07-11T13:00:29.385" v="4" actId="26606"/>
          <ac:picMkLst>
            <pc:docMk/>
            <pc:sldMk cId="0" sldId="257"/>
            <ac:picMk id="4" creationId="{00000000-0000-0000-0000-000000000000}"/>
          </ac:picMkLst>
        </pc:picChg>
      </pc:sldChg>
      <pc:sldChg chg="delSp modSp mod">
        <pc:chgData name="Joshua Hetrick" userId="1c9018af-1061-49bf-9b24-ee273d18a10b" providerId="ADAL" clId="{7DB8041F-CA9C-4D03-A162-052D476E7078}" dt="2026-07-11T12:49:17.976" v="0" actId="26606"/>
        <pc:sldMkLst>
          <pc:docMk/>
          <pc:sldMk cId="0" sldId="258"/>
        </pc:sldMkLst>
        <pc:spChg chg="mod">
          <ac:chgData name="Joshua Hetrick" userId="1c9018af-1061-49bf-9b24-ee273d18a10b" providerId="ADAL" clId="{7DB8041F-CA9C-4D03-A162-052D476E7078}" dt="2026-07-11T12:49:17.976" v="0" actId="26606"/>
          <ac:spMkLst>
            <pc:docMk/>
            <pc:sldMk cId="0" sldId="258"/>
            <ac:spMk id="6" creationId="{00000000-0000-0000-0000-000000000000}"/>
          </ac:spMkLst>
        </pc:spChg>
        <pc:spChg chg="mod">
          <ac:chgData name="Joshua Hetrick" userId="1c9018af-1061-49bf-9b24-ee273d18a10b" providerId="ADAL" clId="{7DB8041F-CA9C-4D03-A162-052D476E7078}" dt="2026-07-11T12:49:17.976" v="0" actId="26606"/>
          <ac:spMkLst>
            <pc:docMk/>
            <pc:sldMk cId="0" sldId="258"/>
            <ac:spMk id="7" creationId="{00000000-0000-0000-0000-000000000000}"/>
          </ac:spMkLst>
        </pc:spChg>
        <pc:spChg chg="del">
          <ac:chgData name="Joshua Hetrick" userId="1c9018af-1061-49bf-9b24-ee273d18a10b" providerId="ADAL" clId="{7DB8041F-CA9C-4D03-A162-052D476E7078}" dt="2026-07-11T12:49:17.976" v="0" actId="26606"/>
          <ac:spMkLst>
            <pc:docMk/>
            <pc:sldMk cId="0" sldId="258"/>
            <ac:spMk id="8" creationId="{00000000-0000-0000-0000-000000000000}"/>
          </ac:spMkLst>
        </pc:spChg>
        <pc:spChg chg="del">
          <ac:chgData name="Joshua Hetrick" userId="1c9018af-1061-49bf-9b24-ee273d18a10b" providerId="ADAL" clId="{7DB8041F-CA9C-4D03-A162-052D476E7078}" dt="2026-07-11T12:49:17.976" v="0" actId="26606"/>
          <ac:spMkLst>
            <pc:docMk/>
            <pc:sldMk cId="0" sldId="258"/>
            <ac:spMk id="9" creationId="{00000000-0000-0000-0000-000000000000}"/>
          </ac:spMkLst>
        </pc:spChg>
        <pc:spChg chg="del">
          <ac:chgData name="Joshua Hetrick" userId="1c9018af-1061-49bf-9b24-ee273d18a10b" providerId="ADAL" clId="{7DB8041F-CA9C-4D03-A162-052D476E7078}" dt="2026-07-11T12:49:17.976" v="0" actId="26606"/>
          <ac:spMkLst>
            <pc:docMk/>
            <pc:sldMk cId="0" sldId="258"/>
            <ac:spMk id="10" creationId="{00000000-0000-0000-0000-000000000000}"/>
          </ac:spMkLst>
        </pc:spChg>
      </pc:sldChg>
      <pc:sldChg chg="delSp modSp mod">
        <pc:chgData name="Joshua Hetrick" userId="1c9018af-1061-49bf-9b24-ee273d18a10b" providerId="ADAL" clId="{7DB8041F-CA9C-4D03-A162-052D476E7078}" dt="2026-07-11T12:49:17.976" v="0" actId="26606"/>
        <pc:sldMkLst>
          <pc:docMk/>
          <pc:sldMk cId="0" sldId="259"/>
        </pc:sldMkLst>
        <pc:spChg chg="mod">
          <ac:chgData name="Joshua Hetrick" userId="1c9018af-1061-49bf-9b24-ee273d18a10b" providerId="ADAL" clId="{7DB8041F-CA9C-4D03-A162-052D476E7078}" dt="2026-07-11T12:49:17.976" v="0" actId="26606"/>
          <ac:spMkLst>
            <pc:docMk/>
            <pc:sldMk cId="0" sldId="259"/>
            <ac:spMk id="6" creationId="{00000000-0000-0000-0000-000000000000}"/>
          </ac:spMkLst>
        </pc:spChg>
        <pc:spChg chg="mod">
          <ac:chgData name="Joshua Hetrick" userId="1c9018af-1061-49bf-9b24-ee273d18a10b" providerId="ADAL" clId="{7DB8041F-CA9C-4D03-A162-052D476E7078}" dt="2026-07-11T12:49:17.976" v="0" actId="26606"/>
          <ac:spMkLst>
            <pc:docMk/>
            <pc:sldMk cId="0" sldId="259"/>
            <ac:spMk id="7" creationId="{00000000-0000-0000-0000-000000000000}"/>
          </ac:spMkLst>
        </pc:spChg>
        <pc:spChg chg="del">
          <ac:chgData name="Joshua Hetrick" userId="1c9018af-1061-49bf-9b24-ee273d18a10b" providerId="ADAL" clId="{7DB8041F-CA9C-4D03-A162-052D476E7078}" dt="2026-07-11T12:49:17.976" v="0" actId="26606"/>
          <ac:spMkLst>
            <pc:docMk/>
            <pc:sldMk cId="0" sldId="259"/>
            <ac:spMk id="8" creationId="{00000000-0000-0000-0000-000000000000}"/>
          </ac:spMkLst>
        </pc:spChg>
        <pc:spChg chg="del">
          <ac:chgData name="Joshua Hetrick" userId="1c9018af-1061-49bf-9b24-ee273d18a10b" providerId="ADAL" clId="{7DB8041F-CA9C-4D03-A162-052D476E7078}" dt="2026-07-11T12:49:17.976" v="0" actId="26606"/>
          <ac:spMkLst>
            <pc:docMk/>
            <pc:sldMk cId="0" sldId="259"/>
            <ac:spMk id="9" creationId="{00000000-0000-0000-0000-000000000000}"/>
          </ac:spMkLst>
        </pc:spChg>
        <pc:spChg chg="del">
          <ac:chgData name="Joshua Hetrick" userId="1c9018af-1061-49bf-9b24-ee273d18a10b" providerId="ADAL" clId="{7DB8041F-CA9C-4D03-A162-052D476E7078}" dt="2026-07-11T12:49:17.976" v="0" actId="26606"/>
          <ac:spMkLst>
            <pc:docMk/>
            <pc:sldMk cId="0" sldId="259"/>
            <ac:spMk id="10" creationId="{00000000-0000-0000-0000-000000000000}"/>
          </ac:spMkLst>
        </pc:spChg>
      </pc:sldChg>
      <pc:sldChg chg="delSp modSp mod">
        <pc:chgData name="Joshua Hetrick" userId="1c9018af-1061-49bf-9b24-ee273d18a10b" providerId="ADAL" clId="{7DB8041F-CA9C-4D03-A162-052D476E7078}" dt="2026-07-11T12:49:17.976" v="0" actId="26606"/>
        <pc:sldMkLst>
          <pc:docMk/>
          <pc:sldMk cId="0" sldId="260"/>
        </pc:sldMkLst>
        <pc:spChg chg="mod">
          <ac:chgData name="Joshua Hetrick" userId="1c9018af-1061-49bf-9b24-ee273d18a10b" providerId="ADAL" clId="{7DB8041F-CA9C-4D03-A162-052D476E7078}" dt="2026-07-11T12:49:17.976" v="0" actId="26606"/>
          <ac:spMkLst>
            <pc:docMk/>
            <pc:sldMk cId="0" sldId="260"/>
            <ac:spMk id="6" creationId="{00000000-0000-0000-0000-000000000000}"/>
          </ac:spMkLst>
        </pc:spChg>
        <pc:spChg chg="mod">
          <ac:chgData name="Joshua Hetrick" userId="1c9018af-1061-49bf-9b24-ee273d18a10b" providerId="ADAL" clId="{7DB8041F-CA9C-4D03-A162-052D476E7078}" dt="2026-07-11T12:49:17.976" v="0" actId="26606"/>
          <ac:spMkLst>
            <pc:docMk/>
            <pc:sldMk cId="0" sldId="260"/>
            <ac:spMk id="7" creationId="{00000000-0000-0000-0000-000000000000}"/>
          </ac:spMkLst>
        </pc:spChg>
        <pc:spChg chg="mod">
          <ac:chgData name="Joshua Hetrick" userId="1c9018af-1061-49bf-9b24-ee273d18a10b" providerId="ADAL" clId="{7DB8041F-CA9C-4D03-A162-052D476E7078}" dt="2026-07-11T12:49:17.976" v="0" actId="26606"/>
          <ac:spMkLst>
            <pc:docMk/>
            <pc:sldMk cId="0" sldId="260"/>
            <ac:spMk id="8" creationId="{00000000-0000-0000-0000-000000000000}"/>
          </ac:spMkLst>
        </pc:spChg>
        <pc:spChg chg="del">
          <ac:chgData name="Joshua Hetrick" userId="1c9018af-1061-49bf-9b24-ee273d18a10b" providerId="ADAL" clId="{7DB8041F-CA9C-4D03-A162-052D476E7078}" dt="2026-07-11T12:49:17.976" v="0" actId="26606"/>
          <ac:spMkLst>
            <pc:docMk/>
            <pc:sldMk cId="0" sldId="260"/>
            <ac:spMk id="9" creationId="{00000000-0000-0000-0000-000000000000}"/>
          </ac:spMkLst>
        </pc:spChg>
        <pc:spChg chg="del">
          <ac:chgData name="Joshua Hetrick" userId="1c9018af-1061-49bf-9b24-ee273d18a10b" providerId="ADAL" clId="{7DB8041F-CA9C-4D03-A162-052D476E7078}" dt="2026-07-11T12:49:17.976" v="0" actId="26606"/>
          <ac:spMkLst>
            <pc:docMk/>
            <pc:sldMk cId="0" sldId="260"/>
            <ac:spMk id="10" creationId="{00000000-0000-0000-0000-000000000000}"/>
          </ac:spMkLst>
        </pc:spChg>
        <pc:spChg chg="del">
          <ac:chgData name="Joshua Hetrick" userId="1c9018af-1061-49bf-9b24-ee273d18a10b" providerId="ADAL" clId="{7DB8041F-CA9C-4D03-A162-052D476E7078}" dt="2026-07-11T12:49:17.976" v="0" actId="26606"/>
          <ac:spMkLst>
            <pc:docMk/>
            <pc:sldMk cId="0" sldId="260"/>
            <ac:spMk id="11" creationId="{00000000-0000-0000-0000-000000000000}"/>
          </ac:spMkLst>
        </pc:spChg>
      </pc:sldChg>
      <pc:sldChg chg="delSp modSp mod">
        <pc:chgData name="Joshua Hetrick" userId="1c9018af-1061-49bf-9b24-ee273d18a10b" providerId="ADAL" clId="{7DB8041F-CA9C-4D03-A162-052D476E7078}" dt="2026-07-11T12:49:17.976" v="0" actId="26606"/>
        <pc:sldMkLst>
          <pc:docMk/>
          <pc:sldMk cId="0" sldId="261"/>
        </pc:sldMkLst>
        <pc:spChg chg="mod">
          <ac:chgData name="Joshua Hetrick" userId="1c9018af-1061-49bf-9b24-ee273d18a10b" providerId="ADAL" clId="{7DB8041F-CA9C-4D03-A162-052D476E7078}" dt="2026-07-11T12:49:17.976" v="0" actId="26606"/>
          <ac:spMkLst>
            <pc:docMk/>
            <pc:sldMk cId="0" sldId="261"/>
            <ac:spMk id="6" creationId="{00000000-0000-0000-0000-000000000000}"/>
          </ac:spMkLst>
        </pc:spChg>
        <pc:spChg chg="mod">
          <ac:chgData name="Joshua Hetrick" userId="1c9018af-1061-49bf-9b24-ee273d18a10b" providerId="ADAL" clId="{7DB8041F-CA9C-4D03-A162-052D476E7078}" dt="2026-07-11T12:49:17.976" v="0" actId="26606"/>
          <ac:spMkLst>
            <pc:docMk/>
            <pc:sldMk cId="0" sldId="261"/>
            <ac:spMk id="7" creationId="{00000000-0000-0000-0000-000000000000}"/>
          </ac:spMkLst>
        </pc:spChg>
        <pc:spChg chg="del">
          <ac:chgData name="Joshua Hetrick" userId="1c9018af-1061-49bf-9b24-ee273d18a10b" providerId="ADAL" clId="{7DB8041F-CA9C-4D03-A162-052D476E7078}" dt="2026-07-11T12:49:17.976" v="0" actId="26606"/>
          <ac:spMkLst>
            <pc:docMk/>
            <pc:sldMk cId="0" sldId="261"/>
            <ac:spMk id="8" creationId="{00000000-0000-0000-0000-000000000000}"/>
          </ac:spMkLst>
        </pc:spChg>
        <pc:spChg chg="del">
          <ac:chgData name="Joshua Hetrick" userId="1c9018af-1061-49bf-9b24-ee273d18a10b" providerId="ADAL" clId="{7DB8041F-CA9C-4D03-A162-052D476E7078}" dt="2026-07-11T12:49:17.976" v="0" actId="26606"/>
          <ac:spMkLst>
            <pc:docMk/>
            <pc:sldMk cId="0" sldId="261"/>
            <ac:spMk id="9" creationId="{00000000-0000-0000-0000-000000000000}"/>
          </ac:spMkLst>
        </pc:spChg>
        <pc:spChg chg="del">
          <ac:chgData name="Joshua Hetrick" userId="1c9018af-1061-49bf-9b24-ee273d18a10b" providerId="ADAL" clId="{7DB8041F-CA9C-4D03-A162-052D476E7078}" dt="2026-07-11T12:49:17.976" v="0" actId="26606"/>
          <ac:spMkLst>
            <pc:docMk/>
            <pc:sldMk cId="0" sldId="261"/>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Myth to Message: Trusting God's Word When Culture Gets Confused. Text: Isaiah 34:14-16. Introduction: Sometimes confusion begins with a simple misunderstanding. Isaiah 34:14 shows how a word can be pulled from Scripture into speculation. This lesson calls us to trust the authority of Scripture over the imagination of man.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Confusion begins with a simple misunderstanding; people repeat things so confidently nobody questions them (GPS illustration: a man followed his GPS's 'turn left' into a strange church's parking lot and sat through Bible class before realizing he was due at the dentist). A wrong turn is funny; a wrong turn with the Word of God is tragic. 2. Isaiah 34:14 shows a word pulled from Scripture into speculation - the Hebrew term discussed as 'lilith' in the desolation of Edom; the Geneva Bible and KJV read it as an owl, later traditions made it a demonic/mythical figure. The issue: will we let God speak, or let culture rewrite what God has said? 3. The lesson: (A) recognize how easily culture influences interpretation, (B) return to the text and context of Scripture, (C) respond to the God who speaks with truth, judgment, mercy, and salvation.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 Culture Can Confuse What God Has Made Clear. A. Isaiah describes a real scene of judgment and desolation - Edom ruined, emptied, inhabited by wild creatures rather than proud rulers. The point is not fascination with monsters but that rebellion against God ends in desolation. B. Later translators imported the ideas of their culture; the Septuagint introduced mythical creatures where the Hebrew referred to animals of the wilderness - a wilderness owl became tangled with sirens, onocentaurs, lamias, and later legends. C. Illustration (whisper game): 'The owl is in the tree' becomes 'The monster is in the sanctuary.' Every careless repetition moves the message farther from the truth. When men repeat culture more than Scripture, confusion grows stronger than conviction.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II: Context Protects Us from Careless Conclusions. A. Isaiah 34 surrounds the debated word with ordinary creatures of desolation - jackals, goats, owls, ravens, and birds of prey fit the prophet's picture of an abandoned land. A passage about judgment needs no mythology; the truth is serious enough. B. Read in harmony with its setting, the image is the wild returning where human pride once stood; God's judgment strips away the illusion of permanence. C. Illustration (puzzle piece): hold one blue piece and you may call it water, sky, glass, or cloth. Put it in the full picture, and the guesswork ends.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III: God's Word Stands Above Human Imagination. A. Isaiah does not build doctrine on legends; he calls us to hear the word of the Lord - Isaiah 34:16, 'Seek out of the book of the LORD, and read.' B. The Scriptures are not weakened because men misunderstand them. A misread map does not prove the road is wrong; a misused Bible does not prove the Bible is unreliable - it proves we must handle it carefully. C. Illustration: a child drew his father with arms as long as tree branches; the picture was not accurate, but it did not change who the father really was. Human imagination may distort the picture, but it cannot change the truth of God's Word.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IV: The Same Word That Warns Also Invites. A. Isaiah 34 warns that sin brings judgment; Edom's ruin reminds us no people, nation, or person can stand safely against God - pride builds cities; sin empties them. B. The fuller message of Scripture points us to Christ - the Lord who judges sin also sent His Son to save sinners. The gospel is not mythology, superstition, or human invention; it is the death, burial, and resurrection of Jesus Christ. C. Illustration: a warning sign beside a collapsed bridge is not cruelty; it is mercy. God's warnings are not given to embarrass us but to rescue us. The question is whether we will stop before it is too late.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1. Confusion grows when culture takes control: men turned an owl into a monster, context into speculation, God's warning into a curiosity. 2. Scripture brings us back to solid ground: context matters, truth matters, obedience matters. 3. The final question is not only 'What does this word mean?' but 'What will I do with the Word of God?' Illustration: imagine a town that argued for years about the design of a warning bell - too old, too plain, the sound too sharp. Then one night the fire came, and the only question that mattered was whether anyone would hear the bell and leave the burning house.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Invitation. God's Word is not merely to be studied; it is to be obeyed. If you are outside of Christ, the gospel calls you to hear the Word of God, believe that Jesus Christ is the Son of God, repent of your sins, confess Christ before men, and be baptized into Christ for the remission of sins. If you are a child of God who has wandered, the same Lord calls you to repent, confess your sin, and return to faithful service. Do not stand in a burning house debating the bell. Do not let culture, confusion, pride, or delay keep you from the Savior. The Word has sounded. The way is open. Christ is ready to save. Come while we stand and while we sing.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_TITLE">
    <p:bg>
      <p:bgPr>
        <a:solidFill>
          <a:srgbClr val="0E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85216" y="2880360"/>
            <a:ext cx="8229600" cy="100584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_CL">
    <p:bg>
      <p:bgPr>
        <a:solidFill>
          <a:srgbClr val="0E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3383280" y="731520"/>
            <a:ext cx="5257800" cy="96012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_CR">
    <p:bg>
      <p:bgPr>
        <a:solidFill>
          <a:srgbClr val="0E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731520"/>
            <a:ext cx="5349240" cy="96012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_CONC">
    <p:bg>
      <p:bgPr>
        <a:solidFill>
          <a:srgbClr val="0E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03504"/>
            <a:ext cx="566928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_INVITE">
    <p:bg>
      <p:bgPr>
        <a:solidFill>
          <a:srgbClr val="0E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603504"/>
            <a:ext cx="576072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6467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crim">
            <a:extLst>
              <a:ext uri="{C183D7F6-B498-43B3-948B-1728B52AA6E4}">
                <adec:decorative xmlns:adec="http://schemas.microsoft.com/office/drawing/2017/decorative" val="1"/>
              </a:ext>
            </a:extLst>
          </p:cNvPr>
          <p:cNvSpPr/>
          <p:nvPr/>
        </p:nvSpPr>
        <p:spPr>
          <a:xfrm>
            <a:off x="0" y="0"/>
            <a:ext cx="9144000" cy="5143500"/>
          </a:xfrm>
          <a:prstGeom prst="rect">
            <a:avLst/>
          </a:prstGeom>
          <a:solidFill>
            <a:srgbClr val="0E1B2E">
              <a:alpha val="64000"/>
            </a:srgbClr>
          </a:solidFill>
          <a:ln/>
        </p:spPr>
        <p:txBody>
          <a:bodyPr/>
          <a:lstStyle/>
          <a:p>
            <a:endParaRPr lang="en-US"/>
          </a:p>
        </p:txBody>
      </p:sp>
      <p:sp>
        <p:nvSpPr>
          <p:cNvPr id="3" name="Lower scrim">
            <a:extLst>
              <a:ext uri="{C183D7F6-B498-43B3-948B-1728B52AA6E4}">
                <adec:decorative xmlns:adec="http://schemas.microsoft.com/office/drawing/2017/decorative" val="1"/>
              </a:ext>
            </a:extLst>
          </p:cNvPr>
          <p:cNvSpPr/>
          <p:nvPr/>
        </p:nvSpPr>
        <p:spPr>
          <a:xfrm>
            <a:off x="0" y="2514600"/>
            <a:ext cx="9144000" cy="2628900"/>
          </a:xfrm>
          <a:prstGeom prst="rect">
            <a:avLst/>
          </a:prstGeom>
          <a:solidFill>
            <a:srgbClr val="0E1B2E">
              <a:alpha val="84000"/>
            </a:srgbClr>
          </a:solidFill>
          <a:ln/>
        </p:spPr>
        <p:txBody>
          <a:bodyPr/>
          <a:lstStyle/>
          <a:p>
            <a:endParaRPr lang="en-US"/>
          </a:p>
        </p:txBody>
      </p:sp>
      <p:sp>
        <p:nvSpPr>
          <p:cNvPr id="4" name="Text 2"/>
          <p:cNvSpPr/>
          <p:nvPr/>
        </p:nvSpPr>
        <p:spPr>
          <a:xfrm>
            <a:off x="640080" y="2542032"/>
            <a:ext cx="7863840" cy="365760"/>
          </a:xfrm>
          <a:prstGeom prst="rect">
            <a:avLst/>
          </a:prstGeom>
          <a:noFill/>
          <a:ln/>
        </p:spPr>
        <p:txBody>
          <a:bodyPr wrap="square" lIns="0" tIns="0" rIns="0" bIns="0" rtlCol="0" anchor="ctr"/>
          <a:lstStyle/>
          <a:p>
            <a:pPr marL="0" indent="0">
              <a:buNone/>
            </a:pPr>
            <a:r>
              <a:rPr lang="en-US" sz="2000" b="1" kern="0" spc="200" dirty="0">
                <a:solidFill>
                  <a:srgbClr val="E4C77A"/>
                </a:solidFill>
                <a:latin typeface="Calibri" pitchFamily="34" charset="0"/>
                <a:ea typeface="Calibri" pitchFamily="34" charset="-122"/>
                <a:cs typeface="Calibri" pitchFamily="34" charset="-120"/>
              </a:rPr>
              <a:t>A SERMON  •  ISAIAH 34:14–16</a:t>
            </a:r>
            <a:endParaRPr lang="en-US" sz="2000" dirty="0"/>
          </a:p>
        </p:txBody>
      </p:sp>
      <p:sp>
        <p:nvSpPr>
          <p:cNvPr id="5" name="Text 0"/>
          <p:cNvSpPr>
            <a:spLocks noGrp="1"/>
          </p:cNvSpPr>
          <p:nvPr>
            <p:ph type="title" idx="100" hasCustomPrompt="1"/>
          </p:nvPr>
        </p:nvSpPr>
        <p:spPr>
          <a:xfrm>
            <a:off x="585216" y="2880360"/>
            <a:ext cx="8229600" cy="1005840"/>
          </a:xfrm>
          <a:prstGeom prst="rect">
            <a:avLst/>
          </a:prstGeom>
          <a:noFill/>
          <a:ln/>
        </p:spPr>
        <p:txBody>
          <a:bodyPr wrap="square" lIns="0" tIns="0" rIns="0" bIns="0" rtlCol="0"/>
          <a:lstStyle/>
          <a:p>
            <a:pPr marL="0" indent="0" algn="l">
              <a:buNone/>
            </a:pPr>
            <a:r>
              <a:rPr lang="en-US" sz="4600" b="1" dirty="0">
                <a:solidFill>
                  <a:srgbClr val="F4ECDB"/>
                </a:solidFill>
                <a:latin typeface="Georgia" pitchFamily="34" charset="0"/>
                <a:ea typeface="Georgia" pitchFamily="34" charset="-122"/>
                <a:cs typeface="Georgia" pitchFamily="34" charset="-120"/>
              </a:rPr>
              <a:t>From Myth to Message</a:t>
            </a:r>
            <a:endParaRPr lang="en-US" sz="4600" dirty="0"/>
          </a:p>
        </p:txBody>
      </p:sp>
      <p:sp>
        <p:nvSpPr>
          <p:cNvPr id="6" name="Text 4"/>
          <p:cNvSpPr/>
          <p:nvPr/>
        </p:nvSpPr>
        <p:spPr>
          <a:xfrm>
            <a:off x="640080" y="4041648"/>
            <a:ext cx="8229600" cy="548640"/>
          </a:xfrm>
          <a:prstGeom prst="rect">
            <a:avLst/>
          </a:prstGeom>
          <a:noFill/>
          <a:ln/>
        </p:spPr>
        <p:txBody>
          <a:bodyPr wrap="square" lIns="0" tIns="0" rIns="0" bIns="0" rtlCol="0" anchor="ctr"/>
          <a:lstStyle/>
          <a:p>
            <a:pPr marL="0" indent="0" algn="l">
              <a:buNone/>
            </a:pPr>
            <a:r>
              <a:rPr lang="en-US" sz="2200" i="1" dirty="0">
                <a:solidFill>
                  <a:srgbClr val="E4C77A"/>
                </a:solidFill>
                <a:latin typeface="Georgia" pitchFamily="34" charset="0"/>
                <a:ea typeface="Georgia" pitchFamily="34" charset="-122"/>
                <a:cs typeface="Georgia" pitchFamily="34" charset="-120"/>
              </a:rPr>
              <a:t>Trusting God’s Word When Culture Gets Confused</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6667" r="6667"/>
          <a:stretch/>
        </p:blipFill>
        <p:spPr>
          <a:xfrm>
            <a:off x="6172200" y="0"/>
            <a:ext cx="2971800" cy="514350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6172200" y="0"/>
            <a:ext cx="2971800" cy="5143500"/>
          </a:xfrm>
          <a:prstGeom prst="rect">
            <a:avLst/>
          </a:prstGeom>
          <a:solidFill>
            <a:srgbClr val="0E1B2E">
              <a:alpha val="50000"/>
            </a:srgbClr>
          </a:solidFill>
          <a:ln/>
        </p:spPr>
        <p:txBody>
          <a:bodyPr/>
          <a:lstStyle/>
          <a:p>
            <a:endParaRPr lang="en-US"/>
          </a:p>
        </p:txBody>
      </p:sp>
      <p:pic>
        <p:nvPicPr>
          <p:cNvPr id="4" name="Image 1"/>
          <p:cNvPicPr>
            <a:picLocks noChangeAspect="1"/>
          </p:cNvPicPr>
          <p:nvPr/>
        </p:nvPicPr>
        <p:blipFill>
          <a:blip r:embed="rId4"/>
          <a:srcRect t="735" b="735"/>
          <a:stretch/>
        </p:blipFill>
        <p:spPr>
          <a:xfrm>
            <a:off x="7004304" y="914400"/>
            <a:ext cx="1243584" cy="1837944"/>
          </a:xfrm>
          <a:prstGeom prst="rect">
            <a:avLst/>
          </a:prstGeom>
          <a:effectLst>
            <a:outerShdw blurRad="114300" dist="50800" dir="2700000" algn="bl" rotWithShape="0">
              <a:srgbClr val="000000">
                <a:alpha val="55000"/>
              </a:srgbClr>
            </a:outerShdw>
          </a:effectLst>
        </p:spPr>
      </p:pic>
      <p:sp>
        <p:nvSpPr>
          <p:cNvPr id="5" name="Lilith frame">
            <a:extLst>
              <a:ext uri="{C183D7F6-B498-43B3-948B-1728B52AA6E4}">
                <adec:decorative xmlns:adec="http://schemas.microsoft.com/office/drawing/2017/decorative" val="1"/>
              </a:ext>
            </a:extLst>
          </p:cNvPr>
          <p:cNvSpPr/>
          <p:nvPr/>
        </p:nvSpPr>
        <p:spPr>
          <a:xfrm>
            <a:off x="7004304" y="914400"/>
            <a:ext cx="1243584" cy="1837944"/>
          </a:xfrm>
          <a:prstGeom prst="rect">
            <a:avLst/>
          </a:prstGeom>
          <a:ln w="22225">
            <a:solidFill>
              <a:srgbClr val="C9A24B"/>
            </a:solidFill>
            <a:prstDash val="solid"/>
          </a:ln>
        </p:spPr>
        <p:txBody>
          <a:bodyPr/>
          <a:lstStyle/>
          <a:p>
            <a:endParaRPr lang="en-US"/>
          </a:p>
        </p:txBody>
      </p:sp>
      <p:sp>
        <p:nvSpPr>
          <p:cNvPr id="6" name="Text 2">
            <a:extLst>
              <a:ext uri="{C183D7F6-B498-43B3-948B-1728B52AA6E4}">
                <adec:decorative xmlns:adec="http://schemas.microsoft.com/office/drawing/2017/decorative" val="1"/>
              </a:ext>
            </a:extLst>
          </p:cNvPr>
          <p:cNvSpPr/>
          <p:nvPr/>
        </p:nvSpPr>
        <p:spPr>
          <a:xfrm>
            <a:off x="6263640" y="2971800"/>
            <a:ext cx="2724912" cy="777240"/>
          </a:xfrm>
          <a:prstGeom prst="rect">
            <a:avLst/>
          </a:prstGeom>
          <a:noFill/>
          <a:ln/>
        </p:spPr>
        <p:txBody>
          <a:bodyPr wrap="square" lIns="0" tIns="0" rIns="0" bIns="0" rtlCol="0" anchor="t"/>
          <a:lstStyle/>
          <a:p>
            <a:pPr marL="0" indent="0" algn="ctr">
              <a:lnSpc>
                <a:spcPct val="100000"/>
              </a:lnSpc>
              <a:buNone/>
            </a:pPr>
            <a:r>
              <a:rPr lang="en-US" sz="2000" i="1" dirty="0">
                <a:solidFill>
                  <a:srgbClr val="E4C77A"/>
                </a:solidFill>
                <a:latin typeface="Georgia" pitchFamily="34" charset="0"/>
                <a:ea typeface="Georgia" pitchFamily="34" charset="-122"/>
                <a:cs typeface="Georgia" pitchFamily="34" charset="-120"/>
              </a:rPr>
              <a:t>The ancient relief later imagined as “Lilith.”</a:t>
            </a:r>
            <a:endParaRPr lang="en-US" sz="2000" dirty="0"/>
          </a:p>
        </p:txBody>
      </p:sp>
      <p:sp>
        <p:nvSpPr>
          <p:cNvPr id="7" name="Text 3">
            <a:extLst>
              <a:ext uri="{C183D7F6-B498-43B3-948B-1728B52AA6E4}">
                <adec:decorative xmlns:adec="http://schemas.microsoft.com/office/drawing/2017/decorative" val="1"/>
              </a:ext>
            </a:extLst>
          </p:cNvPr>
          <p:cNvSpPr/>
          <p:nvPr/>
        </p:nvSpPr>
        <p:spPr>
          <a:xfrm>
            <a:off x="548640" y="384048"/>
            <a:ext cx="534924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INTRODUCTION</a:t>
            </a:r>
            <a:endParaRPr lang="en-US" sz="2000" dirty="0"/>
          </a:p>
        </p:txBody>
      </p:sp>
      <p:sp>
        <p:nvSpPr>
          <p:cNvPr id="8" name="Text 0"/>
          <p:cNvSpPr>
            <a:spLocks noGrp="1"/>
          </p:cNvSpPr>
          <p:nvPr>
            <p:ph type="title" idx="100" hasCustomPrompt="1"/>
          </p:nvPr>
        </p:nvSpPr>
        <p:spPr>
          <a:xfrm>
            <a:off x="548640" y="731520"/>
            <a:ext cx="5349240" cy="960120"/>
          </a:xfrm>
          <a:prstGeom prst="rect">
            <a:avLst/>
          </a:prstGeom>
          <a:noFill/>
          <a:ln/>
        </p:spPr>
        <p:txBody>
          <a:bodyPr wrap="square" lIns="0" tIns="0" rIns="0" bIns="0" rtlCol="0"/>
          <a:lstStyle/>
          <a:p>
            <a:pPr marL="0" indent="0" algn="l">
              <a:buNone/>
            </a:pPr>
            <a:r>
              <a:rPr lang="en-US" sz="2800" b="1" dirty="0">
                <a:solidFill>
                  <a:srgbClr val="F4ECDB"/>
                </a:solidFill>
                <a:latin typeface="Georgia" pitchFamily="34" charset="0"/>
                <a:ea typeface="Georgia" pitchFamily="34" charset="-122"/>
                <a:cs typeface="Georgia" pitchFamily="34" charset="-120"/>
              </a:rPr>
              <a:t>A Simple Misunderstanding</a:t>
            </a:r>
            <a:endParaRPr lang="en-US" sz="2800" dirty="0"/>
          </a:p>
        </p:txBody>
      </p:sp>
      <p:sp>
        <p:nvSpPr>
          <p:cNvPr id="9" name="Accent rule">
            <a:extLst>
              <a:ext uri="{C183D7F6-B498-43B3-948B-1728B52AA6E4}">
                <adec:decorative xmlns:adec="http://schemas.microsoft.com/office/drawing/2017/decorative" val="1"/>
              </a:ext>
            </a:extLst>
          </p:cNvPr>
          <p:cNvSpPr/>
          <p:nvPr/>
        </p:nvSpPr>
        <p:spPr>
          <a:xfrm>
            <a:off x="548640" y="1627632"/>
            <a:ext cx="1097280" cy="41148"/>
          </a:xfrm>
          <a:prstGeom prst="rect">
            <a:avLst/>
          </a:prstGeom>
          <a:solidFill>
            <a:srgbClr val="C9A24B"/>
          </a:solidFill>
          <a:ln/>
        </p:spPr>
        <p:txBody>
          <a:bodyPr/>
          <a:lstStyle/>
          <a:p>
            <a:endParaRPr lang="en-US"/>
          </a:p>
        </p:txBody>
      </p:sp>
      <p:sp>
        <p:nvSpPr>
          <p:cNvPr id="10" name="Text 6"/>
          <p:cNvSpPr/>
          <p:nvPr/>
        </p:nvSpPr>
        <p:spPr>
          <a:xfrm>
            <a:off x="548640" y="1874520"/>
            <a:ext cx="5394960" cy="1463040"/>
          </a:xfrm>
          <a:prstGeom prst="rect">
            <a:avLst/>
          </a:prstGeom>
          <a:noFill/>
          <a:ln/>
        </p:spPr>
        <p:txBody>
          <a:bodyPr wrap="square" lIns="0" tIns="0" rIns="0" bIns="0" rtlCol="0" anchor="t"/>
          <a:lstStyle/>
          <a:p>
            <a:pPr marL="0" indent="0" algn="l">
              <a:lnSpc>
                <a:spcPct val="106000"/>
              </a:lnSpc>
              <a:buNone/>
            </a:pPr>
            <a:r>
              <a:rPr lang="en-US" sz="2300" dirty="0">
                <a:solidFill>
                  <a:srgbClr val="F4ECDB"/>
                </a:solidFill>
                <a:latin typeface="Calibri" pitchFamily="34" charset="0"/>
                <a:ea typeface="Calibri" pitchFamily="34" charset="-122"/>
                <a:cs typeface="Calibri" pitchFamily="34" charset="-120"/>
              </a:rPr>
              <a:t>Confusion begins quietly — a word repeated so confidently no one questions it. Isaiah 34:14 shows how one word can slip from Scripture into speculation.</a:t>
            </a:r>
            <a:endParaRPr lang="en-US" sz="2300" dirty="0"/>
          </a:p>
        </p:txBody>
      </p:sp>
      <p:sp>
        <p:nvSpPr>
          <p:cNvPr id="11" name="Text 7"/>
          <p:cNvSpPr/>
          <p:nvPr/>
        </p:nvSpPr>
        <p:spPr>
          <a:xfrm>
            <a:off x="548640" y="3977640"/>
            <a:ext cx="5394960" cy="640080"/>
          </a:xfrm>
          <a:prstGeom prst="rect">
            <a:avLst/>
          </a:prstGeom>
          <a:noFill/>
          <a:ln/>
        </p:spPr>
        <p:txBody>
          <a:bodyPr wrap="square" lIns="0" tIns="0" rIns="0" bIns="0" rtlCol="0" anchor="ctr"/>
          <a:lstStyle/>
          <a:p>
            <a:pPr marL="0" indent="0" algn="l">
              <a:lnSpc>
                <a:spcPct val="103000"/>
              </a:lnSpc>
              <a:buNone/>
            </a:pPr>
            <a:r>
              <a:rPr lang="en-US" sz="2000" i="1" dirty="0">
                <a:solidFill>
                  <a:srgbClr val="E4C77A"/>
                </a:solidFill>
                <a:latin typeface="Georgia" pitchFamily="34" charset="0"/>
                <a:ea typeface="Georgia" pitchFamily="34" charset="-122"/>
                <a:cs typeface="Georgia" pitchFamily="34" charset="-120"/>
              </a:rPr>
              <a:t>This lesson calls us to recognize, return, and respond.</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5333" r="5333"/>
          <a:stretch/>
        </p:blipFill>
        <p:spPr>
          <a:xfrm>
            <a:off x="0" y="0"/>
            <a:ext cx="3063240" cy="514350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0" y="0"/>
            <a:ext cx="3063240" cy="5143500"/>
          </a:xfrm>
          <a:prstGeom prst="rect">
            <a:avLst/>
          </a:prstGeom>
          <a:solidFill>
            <a:srgbClr val="0E1B2E">
              <a:alpha val="42000"/>
            </a:srgbClr>
          </a:solidFill>
          <a:ln/>
        </p:spPr>
        <p:txBody>
          <a:bodyPr/>
          <a:lstStyle/>
          <a:p>
            <a:endParaRPr lang="en-US"/>
          </a:p>
        </p:txBody>
      </p:sp>
      <p:sp>
        <p:nvSpPr>
          <p:cNvPr id="4" name="Text 1"/>
          <p:cNvSpPr/>
          <p:nvPr/>
        </p:nvSpPr>
        <p:spPr>
          <a:xfrm>
            <a:off x="3383280" y="384048"/>
            <a:ext cx="525780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POINT I</a:t>
            </a:r>
            <a:endParaRPr lang="en-US" sz="2000" dirty="0"/>
          </a:p>
        </p:txBody>
      </p:sp>
      <p:sp>
        <p:nvSpPr>
          <p:cNvPr id="5" name="Text 0"/>
          <p:cNvSpPr>
            <a:spLocks noGrp="1"/>
          </p:cNvSpPr>
          <p:nvPr>
            <p:ph type="title" idx="100" hasCustomPrompt="1"/>
          </p:nvPr>
        </p:nvSpPr>
        <p:spPr>
          <a:xfrm>
            <a:off x="3383280" y="731520"/>
            <a:ext cx="5257800" cy="960120"/>
          </a:xfrm>
          <a:prstGeom prst="rect">
            <a:avLst/>
          </a:prstGeom>
          <a:noFill/>
          <a:ln/>
        </p:spPr>
        <p:txBody>
          <a:bodyPr wrap="square" lIns="0" tIns="0" rIns="0" bIns="0" rtlCol="0"/>
          <a:lstStyle/>
          <a:p>
            <a:pPr marL="0" indent="0" algn="l">
              <a:buNone/>
            </a:pPr>
            <a:r>
              <a:rPr lang="en-US" sz="2500" b="1" dirty="0">
                <a:solidFill>
                  <a:srgbClr val="F4ECDB"/>
                </a:solidFill>
                <a:latin typeface="Georgia" pitchFamily="34" charset="0"/>
                <a:ea typeface="Georgia" pitchFamily="34" charset="-122"/>
                <a:cs typeface="Georgia" pitchFamily="34" charset="-120"/>
              </a:rPr>
              <a:t>Culture Can Confuse What God Has Made Clear</a:t>
            </a:r>
            <a:endParaRPr lang="en-US" sz="2500" dirty="0"/>
          </a:p>
        </p:txBody>
      </p:sp>
      <p:sp>
        <p:nvSpPr>
          <p:cNvPr id="6" name="Accent rule">
            <a:extLst>
              <a:ext uri="{C183D7F6-B498-43B3-948B-1728B52AA6E4}">
                <adec:decorative xmlns:adec="http://schemas.microsoft.com/office/drawing/2017/decorative" val="1"/>
              </a:ext>
            </a:extLst>
          </p:cNvPr>
          <p:cNvSpPr/>
          <p:nvPr/>
        </p:nvSpPr>
        <p:spPr>
          <a:xfrm>
            <a:off x="3383280" y="1783080"/>
            <a:ext cx="1097280" cy="41148"/>
          </a:xfrm>
          <a:prstGeom prst="rect">
            <a:avLst/>
          </a:prstGeom>
          <a:solidFill>
            <a:srgbClr val="C9A24B"/>
          </a:solidFill>
          <a:ln/>
        </p:spPr>
        <p:txBody>
          <a:bodyPr/>
          <a:lstStyle/>
          <a:p>
            <a:endParaRPr lang="en-US"/>
          </a:p>
        </p:txBody>
      </p:sp>
      <p:sp>
        <p:nvSpPr>
          <p:cNvPr id="7" name="Text 4">
            <a:extLst>
              <a:ext uri="{C183D7F6-B498-43B3-948B-1728B52AA6E4}">
                <adec:decorative xmlns:adec="http://schemas.microsoft.com/office/drawing/2017/decorative" val="1"/>
              </a:ext>
            </a:extLst>
          </p:cNvPr>
          <p:cNvSpPr/>
          <p:nvPr/>
        </p:nvSpPr>
        <p:spPr>
          <a:xfrm>
            <a:off x="3383280" y="2057400"/>
            <a:ext cx="5257800" cy="1737360"/>
          </a:xfrm>
          <a:prstGeom prst="rect">
            <a:avLst/>
          </a:prstGeom>
          <a:noFill/>
          <a:ln/>
        </p:spPr>
        <p:txBody>
          <a:bodyPr wrap="square" lIns="0" tIns="0" rIns="0" bIns="0" rtlCol="0" anchor="t"/>
          <a:lstStyle/>
          <a:p>
            <a:pPr marL="0" indent="0" algn="l">
              <a:lnSpc>
                <a:spcPct val="106000"/>
              </a:lnSpc>
              <a:buNone/>
            </a:pPr>
            <a:r>
              <a:rPr lang="en-US" sz="2300" dirty="0">
                <a:solidFill>
                  <a:srgbClr val="F4ECDB"/>
                </a:solidFill>
                <a:latin typeface="Calibri" pitchFamily="34" charset="0"/>
                <a:ea typeface="Calibri" pitchFamily="34" charset="-122"/>
                <a:cs typeface="Calibri" pitchFamily="34" charset="-120"/>
              </a:rPr>
              <a:t>Edom lies in ruins — not a den of monsters, but proof that rebellion ends in desolation. Yet translators let culture creep in, turning a wilderness owl into myth.</a:t>
            </a:r>
            <a:endParaRPr lang="en-US" sz="2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5333" r="5333"/>
          <a:stretch/>
        </p:blipFill>
        <p:spPr>
          <a:xfrm>
            <a:off x="6080760" y="0"/>
            <a:ext cx="3063240" cy="514350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6080760" y="0"/>
            <a:ext cx="3063240" cy="5143500"/>
          </a:xfrm>
          <a:prstGeom prst="rect">
            <a:avLst/>
          </a:prstGeom>
          <a:solidFill>
            <a:srgbClr val="0E1B2E">
              <a:alpha val="42000"/>
            </a:srgbClr>
          </a:solidFill>
          <a:ln/>
        </p:spPr>
        <p:txBody>
          <a:bodyPr/>
          <a:lstStyle/>
          <a:p>
            <a:endParaRPr lang="en-US"/>
          </a:p>
        </p:txBody>
      </p:sp>
      <p:sp>
        <p:nvSpPr>
          <p:cNvPr id="4" name="Text 1"/>
          <p:cNvSpPr/>
          <p:nvPr/>
        </p:nvSpPr>
        <p:spPr>
          <a:xfrm>
            <a:off x="548640" y="384048"/>
            <a:ext cx="534924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POINT II</a:t>
            </a:r>
            <a:endParaRPr lang="en-US" sz="2000" dirty="0"/>
          </a:p>
        </p:txBody>
      </p:sp>
      <p:sp>
        <p:nvSpPr>
          <p:cNvPr id="5" name="Text 0"/>
          <p:cNvSpPr>
            <a:spLocks noGrp="1"/>
          </p:cNvSpPr>
          <p:nvPr>
            <p:ph type="title" idx="100" hasCustomPrompt="1"/>
          </p:nvPr>
        </p:nvSpPr>
        <p:spPr>
          <a:xfrm>
            <a:off x="548640" y="731520"/>
            <a:ext cx="5349240" cy="960120"/>
          </a:xfrm>
          <a:prstGeom prst="rect">
            <a:avLst/>
          </a:prstGeom>
          <a:noFill/>
          <a:ln/>
        </p:spPr>
        <p:txBody>
          <a:bodyPr wrap="square" lIns="0" tIns="0" rIns="0" bIns="0" rtlCol="0"/>
          <a:lstStyle/>
          <a:p>
            <a:pPr marL="0" indent="0" algn="l">
              <a:buNone/>
            </a:pPr>
            <a:r>
              <a:rPr lang="en-US" sz="2500" b="1" dirty="0">
                <a:solidFill>
                  <a:srgbClr val="F4ECDB"/>
                </a:solidFill>
                <a:latin typeface="Georgia" pitchFamily="34" charset="0"/>
                <a:ea typeface="Georgia" pitchFamily="34" charset="-122"/>
                <a:cs typeface="Georgia" pitchFamily="34" charset="-120"/>
              </a:rPr>
              <a:t>Context Protects Us from Careless Conclusions</a:t>
            </a:r>
            <a:endParaRPr lang="en-US" sz="2500" dirty="0"/>
          </a:p>
        </p:txBody>
      </p:sp>
      <p:sp>
        <p:nvSpPr>
          <p:cNvPr id="6" name="Accent rule">
            <a:extLst>
              <a:ext uri="{C183D7F6-B498-43B3-948B-1728B52AA6E4}">
                <adec:decorative xmlns:adec="http://schemas.microsoft.com/office/drawing/2017/decorative" val="1"/>
              </a:ext>
            </a:extLst>
          </p:cNvPr>
          <p:cNvSpPr/>
          <p:nvPr/>
        </p:nvSpPr>
        <p:spPr>
          <a:xfrm>
            <a:off x="548640" y="1783080"/>
            <a:ext cx="1097280" cy="41148"/>
          </a:xfrm>
          <a:prstGeom prst="rect">
            <a:avLst/>
          </a:prstGeom>
          <a:solidFill>
            <a:srgbClr val="C9A24B"/>
          </a:solidFill>
          <a:ln/>
        </p:spPr>
        <p:txBody>
          <a:bodyPr/>
          <a:lstStyle/>
          <a:p>
            <a:endParaRPr lang="en-US"/>
          </a:p>
        </p:txBody>
      </p:sp>
      <p:sp>
        <p:nvSpPr>
          <p:cNvPr id="7" name="Text 4">
            <a:extLst>
              <a:ext uri="{C183D7F6-B498-43B3-948B-1728B52AA6E4}">
                <adec:decorative xmlns:adec="http://schemas.microsoft.com/office/drawing/2017/decorative" val="1"/>
              </a:ext>
            </a:extLst>
          </p:cNvPr>
          <p:cNvSpPr/>
          <p:nvPr/>
        </p:nvSpPr>
        <p:spPr>
          <a:xfrm>
            <a:off x="548640" y="2057400"/>
            <a:ext cx="5349240" cy="1737360"/>
          </a:xfrm>
          <a:prstGeom prst="rect">
            <a:avLst/>
          </a:prstGeom>
          <a:noFill/>
          <a:ln/>
        </p:spPr>
        <p:txBody>
          <a:bodyPr wrap="square" lIns="0" tIns="0" rIns="0" bIns="0" rtlCol="0" anchor="t"/>
          <a:lstStyle/>
          <a:p>
            <a:pPr marL="0" indent="0" algn="l">
              <a:lnSpc>
                <a:spcPct val="106000"/>
              </a:lnSpc>
              <a:buNone/>
            </a:pPr>
            <a:r>
              <a:rPr lang="en-US" sz="2300" dirty="0">
                <a:solidFill>
                  <a:srgbClr val="F4ECDB"/>
                </a:solidFill>
                <a:latin typeface="Calibri" pitchFamily="34" charset="0"/>
                <a:ea typeface="Calibri" pitchFamily="34" charset="-122"/>
                <a:cs typeface="Calibri" pitchFamily="34" charset="-120"/>
              </a:rPr>
              <a:t>Isaiah names ordinary creatures of desolation — jackals, goats, ravens, owls. In context, it is only the wild returning where pride once stood.</a:t>
            </a:r>
            <a:endParaRPr lang="en-US" sz="2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30148" r="30148"/>
          <a:stretch/>
        </p:blipFill>
        <p:spPr>
          <a:xfrm>
            <a:off x="0" y="0"/>
            <a:ext cx="3063240" cy="514350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0" y="0"/>
            <a:ext cx="3063240" cy="5143500"/>
          </a:xfrm>
          <a:prstGeom prst="rect">
            <a:avLst/>
          </a:prstGeom>
          <a:solidFill>
            <a:srgbClr val="0E1B2E">
              <a:alpha val="42000"/>
            </a:srgbClr>
          </a:solidFill>
          <a:ln/>
        </p:spPr>
        <p:txBody>
          <a:bodyPr/>
          <a:lstStyle/>
          <a:p>
            <a:endParaRPr lang="en-US"/>
          </a:p>
        </p:txBody>
      </p:sp>
      <p:sp>
        <p:nvSpPr>
          <p:cNvPr id="4" name="Text 1"/>
          <p:cNvSpPr/>
          <p:nvPr/>
        </p:nvSpPr>
        <p:spPr>
          <a:xfrm>
            <a:off x="3383280" y="384048"/>
            <a:ext cx="525780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POINT III</a:t>
            </a:r>
            <a:endParaRPr lang="en-US" sz="2000" dirty="0"/>
          </a:p>
        </p:txBody>
      </p:sp>
      <p:sp>
        <p:nvSpPr>
          <p:cNvPr id="5" name="Text 0"/>
          <p:cNvSpPr>
            <a:spLocks noGrp="1"/>
          </p:cNvSpPr>
          <p:nvPr>
            <p:ph type="title" idx="100" hasCustomPrompt="1"/>
          </p:nvPr>
        </p:nvSpPr>
        <p:spPr>
          <a:xfrm>
            <a:off x="3383280" y="731520"/>
            <a:ext cx="5257800" cy="960120"/>
          </a:xfrm>
          <a:prstGeom prst="rect">
            <a:avLst/>
          </a:prstGeom>
          <a:noFill/>
          <a:ln/>
        </p:spPr>
        <p:txBody>
          <a:bodyPr wrap="square" lIns="0" tIns="0" rIns="0" bIns="0" rtlCol="0"/>
          <a:lstStyle/>
          <a:p>
            <a:pPr marL="0" indent="0" algn="l">
              <a:buNone/>
            </a:pPr>
            <a:r>
              <a:rPr lang="en-US" sz="2400" b="1" dirty="0">
                <a:solidFill>
                  <a:srgbClr val="F4ECDB"/>
                </a:solidFill>
                <a:latin typeface="Georgia" pitchFamily="34" charset="0"/>
                <a:ea typeface="Georgia" pitchFamily="34" charset="-122"/>
                <a:cs typeface="Georgia" pitchFamily="34" charset="-120"/>
              </a:rPr>
              <a:t>God’s Word Stands Above Human Imagination</a:t>
            </a:r>
            <a:endParaRPr lang="en-US" sz="2400" dirty="0"/>
          </a:p>
        </p:txBody>
      </p:sp>
      <p:sp>
        <p:nvSpPr>
          <p:cNvPr id="6" name="Accent rule">
            <a:extLst>
              <a:ext uri="{C183D7F6-B498-43B3-948B-1728B52AA6E4}">
                <adec:decorative xmlns:adec="http://schemas.microsoft.com/office/drawing/2017/decorative" val="1"/>
              </a:ext>
            </a:extLst>
          </p:cNvPr>
          <p:cNvSpPr/>
          <p:nvPr/>
        </p:nvSpPr>
        <p:spPr>
          <a:xfrm>
            <a:off x="3383280" y="1627632"/>
            <a:ext cx="1097280" cy="41148"/>
          </a:xfrm>
          <a:prstGeom prst="rect">
            <a:avLst/>
          </a:prstGeom>
          <a:solidFill>
            <a:srgbClr val="C9A24B"/>
          </a:solidFill>
          <a:ln/>
        </p:spPr>
        <p:txBody>
          <a:bodyPr/>
          <a:lstStyle/>
          <a:p>
            <a:endParaRPr lang="en-US"/>
          </a:p>
        </p:txBody>
      </p:sp>
      <p:sp>
        <p:nvSpPr>
          <p:cNvPr id="7" name="Text 4"/>
          <p:cNvSpPr/>
          <p:nvPr/>
        </p:nvSpPr>
        <p:spPr>
          <a:xfrm>
            <a:off x="3383280" y="1901952"/>
            <a:ext cx="5257800" cy="1737360"/>
          </a:xfrm>
          <a:prstGeom prst="rect">
            <a:avLst/>
          </a:prstGeom>
          <a:noFill/>
          <a:ln/>
        </p:spPr>
        <p:txBody>
          <a:bodyPr wrap="square" lIns="0" tIns="0" rIns="0" bIns="0" rtlCol="0" anchor="t"/>
          <a:lstStyle/>
          <a:p>
            <a:pPr marL="0" indent="0" algn="l">
              <a:lnSpc>
                <a:spcPct val="106000"/>
              </a:lnSpc>
              <a:buNone/>
            </a:pPr>
            <a:r>
              <a:rPr lang="en-US" sz="2300" dirty="0">
                <a:solidFill>
                  <a:srgbClr val="F4ECDB"/>
                </a:solidFill>
                <a:latin typeface="Calibri" pitchFamily="34" charset="0"/>
                <a:ea typeface="Calibri" pitchFamily="34" charset="-122"/>
                <a:cs typeface="Calibri" pitchFamily="34" charset="-120"/>
              </a:rPr>
              <a:t>Isaiah builds no doctrine on legends; he calls us to hear the LORD.</a:t>
            </a:r>
            <a:endParaRPr lang="en-US" sz="2300" dirty="0"/>
          </a:p>
        </p:txBody>
      </p:sp>
      <p:sp>
        <p:nvSpPr>
          <p:cNvPr id="8" name="Text 5">
            <a:extLst>
              <a:ext uri="{C183D7F6-B498-43B3-948B-1728B52AA6E4}">
                <adec:decorative xmlns:adec="http://schemas.microsoft.com/office/drawing/2017/decorative" val="1"/>
              </a:ext>
            </a:extLst>
          </p:cNvPr>
          <p:cNvSpPr/>
          <p:nvPr/>
        </p:nvSpPr>
        <p:spPr>
          <a:xfrm>
            <a:off x="3383280" y="3246120"/>
            <a:ext cx="5257800" cy="1097280"/>
          </a:xfrm>
          <a:prstGeom prst="rect">
            <a:avLst/>
          </a:prstGeom>
          <a:noFill/>
          <a:ln/>
        </p:spPr>
        <p:txBody>
          <a:bodyPr wrap="square" lIns="0" tIns="0" rIns="0" bIns="0" rtlCol="0" anchor="t"/>
          <a:lstStyle/>
          <a:p>
            <a:pPr marL="0" indent="0" algn="l">
              <a:lnSpc>
                <a:spcPct val="105000"/>
              </a:lnSpc>
              <a:buNone/>
            </a:pPr>
            <a:r>
              <a:rPr lang="en-US" sz="2400" i="1" dirty="0">
                <a:solidFill>
                  <a:srgbClr val="E4C77A"/>
                </a:solidFill>
                <a:latin typeface="Georgia" pitchFamily="34" charset="0"/>
                <a:ea typeface="Georgia" pitchFamily="34" charset="-122"/>
                <a:cs typeface="Georgia" pitchFamily="34" charset="-120"/>
              </a:rPr>
              <a:t>“Seek out of the book of the LORD, and read.” — Isaiah 34:16</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l="5333" r="5333"/>
          <a:stretch/>
        </p:blipFill>
        <p:spPr>
          <a:xfrm>
            <a:off x="6080760" y="0"/>
            <a:ext cx="3063240" cy="514350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6080760" y="0"/>
            <a:ext cx="3063240" cy="5143500"/>
          </a:xfrm>
          <a:prstGeom prst="rect">
            <a:avLst/>
          </a:prstGeom>
          <a:solidFill>
            <a:srgbClr val="0E1B2E">
              <a:alpha val="42000"/>
            </a:srgbClr>
          </a:solidFill>
          <a:ln/>
        </p:spPr>
        <p:txBody>
          <a:bodyPr/>
          <a:lstStyle/>
          <a:p>
            <a:endParaRPr lang="en-US"/>
          </a:p>
        </p:txBody>
      </p:sp>
      <p:sp>
        <p:nvSpPr>
          <p:cNvPr id="4" name="Text 1"/>
          <p:cNvSpPr/>
          <p:nvPr/>
        </p:nvSpPr>
        <p:spPr>
          <a:xfrm>
            <a:off x="548640" y="384048"/>
            <a:ext cx="534924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POINT IV</a:t>
            </a:r>
            <a:endParaRPr lang="en-US" sz="2000" dirty="0"/>
          </a:p>
        </p:txBody>
      </p:sp>
      <p:sp>
        <p:nvSpPr>
          <p:cNvPr id="5" name="Text 0"/>
          <p:cNvSpPr>
            <a:spLocks noGrp="1"/>
          </p:cNvSpPr>
          <p:nvPr>
            <p:ph type="title" idx="100" hasCustomPrompt="1"/>
          </p:nvPr>
        </p:nvSpPr>
        <p:spPr>
          <a:xfrm>
            <a:off x="548640" y="731520"/>
            <a:ext cx="5349240" cy="960120"/>
          </a:xfrm>
          <a:prstGeom prst="rect">
            <a:avLst/>
          </a:prstGeom>
          <a:noFill/>
          <a:ln/>
        </p:spPr>
        <p:txBody>
          <a:bodyPr wrap="square" lIns="0" tIns="0" rIns="0" bIns="0" rtlCol="0"/>
          <a:lstStyle/>
          <a:p>
            <a:pPr marL="0" indent="0" algn="l">
              <a:buNone/>
            </a:pPr>
            <a:r>
              <a:rPr lang="en-US" sz="2600" b="1" dirty="0">
                <a:solidFill>
                  <a:srgbClr val="F4ECDB"/>
                </a:solidFill>
                <a:latin typeface="Georgia" pitchFamily="34" charset="0"/>
                <a:ea typeface="Georgia" pitchFamily="34" charset="-122"/>
                <a:cs typeface="Georgia" pitchFamily="34" charset="-120"/>
              </a:rPr>
              <a:t>The Same Word That Warns Also Invites</a:t>
            </a:r>
            <a:endParaRPr lang="en-US" sz="2600" dirty="0"/>
          </a:p>
        </p:txBody>
      </p:sp>
      <p:sp>
        <p:nvSpPr>
          <p:cNvPr id="6" name="Accent rule">
            <a:extLst>
              <a:ext uri="{C183D7F6-B498-43B3-948B-1728B52AA6E4}">
                <adec:decorative xmlns:adec="http://schemas.microsoft.com/office/drawing/2017/decorative" val="1"/>
              </a:ext>
            </a:extLst>
          </p:cNvPr>
          <p:cNvSpPr/>
          <p:nvPr/>
        </p:nvSpPr>
        <p:spPr>
          <a:xfrm>
            <a:off x="548640" y="1783080"/>
            <a:ext cx="1097280" cy="41148"/>
          </a:xfrm>
          <a:prstGeom prst="rect">
            <a:avLst/>
          </a:prstGeom>
          <a:solidFill>
            <a:srgbClr val="C9A24B"/>
          </a:solidFill>
          <a:ln/>
        </p:spPr>
        <p:txBody>
          <a:bodyPr/>
          <a:lstStyle/>
          <a:p>
            <a:endParaRPr lang="en-US"/>
          </a:p>
        </p:txBody>
      </p:sp>
      <p:sp>
        <p:nvSpPr>
          <p:cNvPr id="7" name="Text 4">
            <a:extLst>
              <a:ext uri="{C183D7F6-B498-43B3-948B-1728B52AA6E4}">
                <adec:decorative xmlns:adec="http://schemas.microsoft.com/office/drawing/2017/decorative" val="1"/>
              </a:ext>
            </a:extLst>
          </p:cNvPr>
          <p:cNvSpPr/>
          <p:nvPr/>
        </p:nvSpPr>
        <p:spPr>
          <a:xfrm>
            <a:off x="548640" y="2057400"/>
            <a:ext cx="5349240" cy="1737360"/>
          </a:xfrm>
          <a:prstGeom prst="rect">
            <a:avLst/>
          </a:prstGeom>
          <a:noFill/>
          <a:ln/>
        </p:spPr>
        <p:txBody>
          <a:bodyPr wrap="square" lIns="0" tIns="0" rIns="0" bIns="0" rtlCol="0" anchor="t"/>
          <a:lstStyle/>
          <a:p>
            <a:pPr marL="0" indent="0" algn="l">
              <a:lnSpc>
                <a:spcPct val="106000"/>
              </a:lnSpc>
              <a:buNone/>
            </a:pPr>
            <a:r>
              <a:rPr lang="en-US" sz="2300" dirty="0">
                <a:solidFill>
                  <a:srgbClr val="F4ECDB"/>
                </a:solidFill>
                <a:latin typeface="Calibri" pitchFamily="34" charset="0"/>
                <a:ea typeface="Calibri" pitchFamily="34" charset="-122"/>
                <a:cs typeface="Calibri" pitchFamily="34" charset="-120"/>
              </a:rPr>
              <a:t>Edom’s ruin warns that no one stands safely against God — pride builds cities; sin empties them. Yet the same Word points to Christ.</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p:cNvPicPr>
            <a:picLocks noChangeAspect="1"/>
          </p:cNvPicPr>
          <p:nvPr/>
        </p:nvPicPr>
        <p:blipFill>
          <a:blip r:embed="rId3"/>
          <a:srcRect t="2688" b="2688"/>
          <a:stretch/>
        </p:blipFill>
        <p:spPr>
          <a:xfrm>
            <a:off x="6309360" y="0"/>
            <a:ext cx="2834640" cy="4023360"/>
          </a:xfrm>
          <a:prstGeom prst="rect">
            <a:avLst/>
          </a:prstGeom>
        </p:spPr>
      </p:pic>
      <p:sp>
        <p:nvSpPr>
          <p:cNvPr id="3" name="Panel scrim">
            <a:extLst>
              <a:ext uri="{C183D7F6-B498-43B3-948B-1728B52AA6E4}">
                <adec:decorative xmlns:adec="http://schemas.microsoft.com/office/drawing/2017/decorative" val="1"/>
              </a:ext>
            </a:extLst>
          </p:cNvPr>
          <p:cNvSpPr/>
          <p:nvPr/>
        </p:nvSpPr>
        <p:spPr>
          <a:xfrm>
            <a:off x="6309360" y="0"/>
            <a:ext cx="2834640" cy="4023360"/>
          </a:xfrm>
          <a:prstGeom prst="rect">
            <a:avLst/>
          </a:prstGeom>
          <a:solidFill>
            <a:srgbClr val="0E1B2E">
              <a:alpha val="58000"/>
            </a:srgbClr>
          </a:solidFill>
          <a:ln/>
        </p:spPr>
        <p:txBody>
          <a:bodyPr/>
          <a:lstStyle/>
          <a:p>
            <a:endParaRPr lang="en-US"/>
          </a:p>
        </p:txBody>
      </p:sp>
      <p:sp>
        <p:nvSpPr>
          <p:cNvPr id="4" name="Text 1"/>
          <p:cNvSpPr/>
          <p:nvPr/>
        </p:nvSpPr>
        <p:spPr>
          <a:xfrm>
            <a:off x="6309360" y="4160520"/>
            <a:ext cx="2788920" cy="731520"/>
          </a:xfrm>
          <a:prstGeom prst="rect">
            <a:avLst/>
          </a:prstGeom>
          <a:noFill/>
          <a:ln/>
        </p:spPr>
        <p:txBody>
          <a:bodyPr wrap="square" lIns="0" tIns="0" rIns="0" bIns="0" rtlCol="0" anchor="ctr"/>
          <a:lstStyle/>
          <a:p>
            <a:pPr marL="0" indent="0" algn="ctr">
              <a:buNone/>
            </a:pPr>
            <a:r>
              <a:rPr lang="en-US" sz="2000" i="1" dirty="0">
                <a:solidFill>
                  <a:srgbClr val="E4C77A"/>
                </a:solidFill>
                <a:latin typeface="Georgia" pitchFamily="34" charset="0"/>
                <a:ea typeface="Georgia" pitchFamily="34" charset="-122"/>
                <a:cs typeface="Georgia" pitchFamily="34" charset="-120"/>
              </a:rPr>
              <a:t>Will we hear the bell?</a:t>
            </a:r>
            <a:endParaRPr lang="en-US" sz="2000" dirty="0"/>
          </a:p>
        </p:txBody>
      </p:sp>
      <p:sp>
        <p:nvSpPr>
          <p:cNvPr id="5" name="Text 2"/>
          <p:cNvSpPr/>
          <p:nvPr/>
        </p:nvSpPr>
        <p:spPr>
          <a:xfrm>
            <a:off x="548640" y="365760"/>
            <a:ext cx="566928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CONCLUSION</a:t>
            </a:r>
            <a:endParaRPr lang="en-US" sz="2000" dirty="0"/>
          </a:p>
        </p:txBody>
      </p:sp>
      <p:sp>
        <p:nvSpPr>
          <p:cNvPr id="6" name="Text 0"/>
          <p:cNvSpPr>
            <a:spLocks noGrp="1"/>
          </p:cNvSpPr>
          <p:nvPr>
            <p:ph type="title" idx="100" hasCustomPrompt="1"/>
          </p:nvPr>
        </p:nvSpPr>
        <p:spPr>
          <a:xfrm>
            <a:off x="548640" y="603504"/>
            <a:ext cx="5669280" cy="914400"/>
          </a:xfrm>
          <a:prstGeom prst="rect">
            <a:avLst/>
          </a:prstGeom>
          <a:noFill/>
          <a:ln/>
        </p:spPr>
        <p:txBody>
          <a:bodyPr wrap="square" lIns="0" tIns="0" rIns="0" bIns="0" rtlCol="0"/>
          <a:lstStyle/>
          <a:p>
            <a:pPr marL="0" indent="0" algn="l">
              <a:buNone/>
            </a:pPr>
            <a:r>
              <a:rPr lang="en-US" sz="2600" b="1" dirty="0">
                <a:solidFill>
                  <a:srgbClr val="F4ECDB"/>
                </a:solidFill>
                <a:latin typeface="Georgia" pitchFamily="34" charset="0"/>
                <a:ea typeface="Georgia" pitchFamily="34" charset="-122"/>
                <a:cs typeface="Georgia" pitchFamily="34" charset="-120"/>
              </a:rPr>
              <a:t>What Will You Do with the Word of God?</a:t>
            </a:r>
            <a:endParaRPr lang="en-US" sz="2600" dirty="0"/>
          </a:p>
        </p:txBody>
      </p:sp>
      <p:sp>
        <p:nvSpPr>
          <p:cNvPr id="7" name="Text 4"/>
          <p:cNvSpPr/>
          <p:nvPr/>
        </p:nvSpPr>
        <p:spPr>
          <a:xfrm>
            <a:off x="548640" y="1627632"/>
            <a:ext cx="2651760" cy="329184"/>
          </a:xfrm>
          <a:prstGeom prst="rect">
            <a:avLst/>
          </a:prstGeom>
          <a:noFill/>
          <a:ln/>
        </p:spPr>
        <p:txBody>
          <a:bodyPr wrap="square" lIns="0" tIns="0" rIns="0" bIns="0" rtlCol="0" anchor="ctr"/>
          <a:lstStyle/>
          <a:p>
            <a:pPr marL="0" indent="0">
              <a:buNone/>
            </a:pPr>
            <a:r>
              <a:rPr lang="en-US" sz="2000" b="1" kern="0" spc="200" dirty="0">
                <a:solidFill>
                  <a:srgbClr val="E4C77A"/>
                </a:solidFill>
                <a:latin typeface="Calibri" pitchFamily="34" charset="0"/>
                <a:ea typeface="Calibri" pitchFamily="34" charset="-122"/>
                <a:cs typeface="Calibri" pitchFamily="34" charset="-120"/>
              </a:rPr>
              <a:t>THE DRIFT</a:t>
            </a:r>
            <a:endParaRPr lang="en-US" sz="2000" dirty="0"/>
          </a:p>
        </p:txBody>
      </p:sp>
      <p:sp>
        <p:nvSpPr>
          <p:cNvPr id="8" name="Text 5"/>
          <p:cNvSpPr/>
          <p:nvPr/>
        </p:nvSpPr>
        <p:spPr>
          <a:xfrm>
            <a:off x="548640" y="2011680"/>
            <a:ext cx="2697480" cy="1554480"/>
          </a:xfrm>
          <a:prstGeom prst="rect">
            <a:avLst/>
          </a:prstGeom>
          <a:noFill/>
          <a:ln/>
        </p:spPr>
        <p:txBody>
          <a:bodyPr wrap="square" lIns="0" tIns="0" rIns="0" bIns="0" rtlCol="0" anchor="ctr"/>
          <a:lstStyle/>
          <a:p>
            <a:pPr marL="203200" indent="-203200" algn="l">
              <a:spcAft>
                <a:spcPts val="600"/>
              </a:spcAft>
              <a:buSzPct val="100000"/>
              <a:buChar char="•"/>
            </a:pPr>
            <a:r>
              <a:rPr lang="en-US" sz="2000" dirty="0">
                <a:solidFill>
                  <a:srgbClr val="C8D2E0"/>
                </a:solidFill>
                <a:latin typeface="Calibri" pitchFamily="34" charset="0"/>
                <a:ea typeface="Calibri" pitchFamily="34" charset="-122"/>
                <a:cs typeface="Calibri" pitchFamily="34" charset="-120"/>
              </a:rPr>
              <a:t>An owl became a monster.</a:t>
            </a:r>
            <a:endParaRPr lang="en-US" sz="2000" dirty="0"/>
          </a:p>
          <a:p>
            <a:pPr marL="203200" indent="-203200" algn="l">
              <a:spcAft>
                <a:spcPts val="600"/>
              </a:spcAft>
              <a:buSzPct val="100000"/>
              <a:buChar char="•"/>
            </a:pPr>
            <a:r>
              <a:rPr lang="en-US" sz="2000" dirty="0">
                <a:solidFill>
                  <a:srgbClr val="C8D2E0"/>
                </a:solidFill>
                <a:latin typeface="Calibri" pitchFamily="34" charset="0"/>
                <a:ea typeface="Calibri" pitchFamily="34" charset="-122"/>
                <a:cs typeface="Calibri" pitchFamily="34" charset="-120"/>
              </a:rPr>
              <a:t>Context became speculation.</a:t>
            </a:r>
            <a:endParaRPr lang="en-US" sz="2000" dirty="0"/>
          </a:p>
          <a:p>
            <a:pPr marL="203200" indent="-203200" algn="l">
              <a:spcAft>
                <a:spcPts val="600"/>
              </a:spcAft>
              <a:buSzPct val="100000"/>
              <a:buChar char="•"/>
            </a:pPr>
            <a:r>
              <a:rPr lang="en-US" sz="2000" dirty="0">
                <a:solidFill>
                  <a:srgbClr val="C8D2E0"/>
                </a:solidFill>
                <a:latin typeface="Calibri" pitchFamily="34" charset="0"/>
                <a:ea typeface="Calibri" pitchFamily="34" charset="-122"/>
                <a:cs typeface="Calibri" pitchFamily="34" charset="-120"/>
              </a:rPr>
              <a:t>Warning became curiosity.</a:t>
            </a:r>
            <a:endParaRPr lang="en-US" sz="2000" dirty="0"/>
          </a:p>
        </p:txBody>
      </p:sp>
      <p:sp>
        <p:nvSpPr>
          <p:cNvPr id="9" name="Text 6"/>
          <p:cNvSpPr/>
          <p:nvPr/>
        </p:nvSpPr>
        <p:spPr>
          <a:xfrm>
            <a:off x="3383280" y="1627632"/>
            <a:ext cx="2651760" cy="329184"/>
          </a:xfrm>
          <a:prstGeom prst="rect">
            <a:avLst/>
          </a:prstGeom>
          <a:noFill/>
          <a:ln/>
        </p:spPr>
        <p:txBody>
          <a:bodyPr wrap="square" lIns="0" tIns="0" rIns="0" bIns="0" rtlCol="0" anchor="ctr"/>
          <a:lstStyle/>
          <a:p>
            <a:pPr marL="0" indent="0">
              <a:buNone/>
            </a:pPr>
            <a:r>
              <a:rPr lang="en-US" sz="2000" b="1" kern="0" spc="200" dirty="0">
                <a:solidFill>
                  <a:srgbClr val="E4C77A"/>
                </a:solidFill>
                <a:latin typeface="Calibri" pitchFamily="34" charset="0"/>
                <a:ea typeface="Calibri" pitchFamily="34" charset="-122"/>
                <a:cs typeface="Calibri" pitchFamily="34" charset="-120"/>
              </a:rPr>
              <a:t>SOLID GROUND</a:t>
            </a:r>
            <a:endParaRPr lang="en-US" sz="2000" dirty="0"/>
          </a:p>
        </p:txBody>
      </p:sp>
      <p:sp>
        <p:nvSpPr>
          <p:cNvPr id="10" name="Text 7"/>
          <p:cNvSpPr/>
          <p:nvPr/>
        </p:nvSpPr>
        <p:spPr>
          <a:xfrm>
            <a:off x="3383280" y="2011680"/>
            <a:ext cx="2651760" cy="1554480"/>
          </a:xfrm>
          <a:prstGeom prst="rect">
            <a:avLst/>
          </a:prstGeom>
          <a:noFill/>
          <a:ln/>
        </p:spPr>
        <p:txBody>
          <a:bodyPr wrap="square" lIns="0" tIns="0" rIns="0" bIns="0" rtlCol="0" anchor="ctr"/>
          <a:lstStyle/>
          <a:p>
            <a:pPr marL="203200" indent="-203200" algn="l">
              <a:spcAft>
                <a:spcPts val="600"/>
              </a:spcAft>
              <a:buSzPct val="100000"/>
              <a:buChar char="•"/>
            </a:pPr>
            <a:r>
              <a:rPr lang="en-US" sz="2000" dirty="0">
                <a:solidFill>
                  <a:srgbClr val="F4ECDB"/>
                </a:solidFill>
                <a:latin typeface="Calibri" pitchFamily="34" charset="0"/>
                <a:ea typeface="Calibri" pitchFamily="34" charset="-122"/>
                <a:cs typeface="Calibri" pitchFamily="34" charset="-120"/>
              </a:rPr>
              <a:t>Context matters.</a:t>
            </a:r>
            <a:endParaRPr lang="en-US" sz="2000" dirty="0"/>
          </a:p>
          <a:p>
            <a:pPr marL="203200" indent="-203200" algn="l">
              <a:spcAft>
                <a:spcPts val="600"/>
              </a:spcAft>
              <a:buSzPct val="100000"/>
              <a:buChar char="•"/>
            </a:pPr>
            <a:r>
              <a:rPr lang="en-US" sz="2000" dirty="0">
                <a:solidFill>
                  <a:srgbClr val="F4ECDB"/>
                </a:solidFill>
                <a:latin typeface="Calibri" pitchFamily="34" charset="0"/>
                <a:ea typeface="Calibri" pitchFamily="34" charset="-122"/>
                <a:cs typeface="Calibri" pitchFamily="34" charset="-120"/>
              </a:rPr>
              <a:t>Truth matters.</a:t>
            </a:r>
            <a:endParaRPr lang="en-US" sz="2000" dirty="0"/>
          </a:p>
          <a:p>
            <a:pPr marL="203200" indent="-203200" algn="l">
              <a:spcAft>
                <a:spcPts val="600"/>
              </a:spcAft>
              <a:buSzPct val="100000"/>
              <a:buChar char="•"/>
            </a:pPr>
            <a:r>
              <a:rPr lang="en-US" sz="2000" dirty="0">
                <a:solidFill>
                  <a:srgbClr val="F4ECDB"/>
                </a:solidFill>
                <a:latin typeface="Calibri" pitchFamily="34" charset="0"/>
                <a:ea typeface="Calibri" pitchFamily="34" charset="-122"/>
                <a:cs typeface="Calibri" pitchFamily="34" charset="-120"/>
              </a:rPr>
              <a:t>Obedience matters.</a:t>
            </a:r>
            <a:endParaRPr lang="en-US" sz="2000" dirty="0"/>
          </a:p>
        </p:txBody>
      </p:sp>
      <p:sp>
        <p:nvSpPr>
          <p:cNvPr id="11" name="Question card">
            <a:extLst>
              <a:ext uri="{C183D7F6-B498-43B3-948B-1728B52AA6E4}">
                <adec:decorative xmlns:adec="http://schemas.microsoft.com/office/drawing/2017/decorative" val="1"/>
              </a:ext>
            </a:extLst>
          </p:cNvPr>
          <p:cNvSpPr/>
          <p:nvPr/>
        </p:nvSpPr>
        <p:spPr>
          <a:xfrm>
            <a:off x="548640" y="3767328"/>
            <a:ext cx="5486400" cy="1097280"/>
          </a:xfrm>
          <a:prstGeom prst="rect">
            <a:avLst/>
          </a:prstGeom>
          <a:solidFill>
            <a:srgbClr val="1C3355"/>
          </a:solidFill>
          <a:ln w="9525">
            <a:solidFill>
              <a:srgbClr val="C9A24B"/>
            </a:solidFill>
            <a:prstDash val="solid"/>
          </a:ln>
        </p:spPr>
        <p:txBody>
          <a:bodyPr/>
          <a:lstStyle/>
          <a:p>
            <a:endParaRPr lang="en-US"/>
          </a:p>
        </p:txBody>
      </p:sp>
      <p:sp>
        <p:nvSpPr>
          <p:cNvPr id="12" name="Text 9"/>
          <p:cNvSpPr/>
          <p:nvPr/>
        </p:nvSpPr>
        <p:spPr>
          <a:xfrm>
            <a:off x="749808" y="3840480"/>
            <a:ext cx="5120640" cy="950976"/>
          </a:xfrm>
          <a:prstGeom prst="rect">
            <a:avLst/>
          </a:prstGeom>
          <a:noFill/>
          <a:ln/>
        </p:spPr>
        <p:txBody>
          <a:bodyPr wrap="square" lIns="0" tIns="0" rIns="0" bIns="0" rtlCol="0" anchor="ctr"/>
          <a:lstStyle/>
          <a:p>
            <a:pPr marL="0" indent="0" algn="l">
              <a:lnSpc>
                <a:spcPct val="104000"/>
              </a:lnSpc>
              <a:buNone/>
            </a:pPr>
            <a:r>
              <a:rPr lang="en-US" sz="2000" i="1" dirty="0">
                <a:solidFill>
                  <a:srgbClr val="F4ECDB"/>
                </a:solidFill>
                <a:latin typeface="Georgia" pitchFamily="34" charset="0"/>
                <a:ea typeface="Georgia" pitchFamily="34" charset="-122"/>
                <a:cs typeface="Georgia" pitchFamily="34" charset="-120"/>
              </a:rPr>
              <a:t>Not only “What does this word mean?”</a:t>
            </a:r>
            <a:endParaRPr lang="en-US" sz="2000" dirty="0"/>
          </a:p>
          <a:p>
            <a:pPr marL="0" indent="0" algn="l">
              <a:lnSpc>
                <a:spcPct val="104000"/>
              </a:lnSpc>
              <a:buNone/>
            </a:pPr>
            <a:r>
              <a:rPr lang="en-US" sz="2000" b="1" i="1" dirty="0">
                <a:solidFill>
                  <a:srgbClr val="E4C77A"/>
                </a:solidFill>
                <a:latin typeface="Georgia" pitchFamily="34" charset="0"/>
                <a:ea typeface="Georgia" pitchFamily="34" charset="-122"/>
                <a:cs typeface="Georgia" pitchFamily="34" charset="-120"/>
              </a:rPr>
              <a:t>but “What will I do with the Word of God?”</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crim">
            <a:extLst>
              <a:ext uri="{C183D7F6-B498-43B3-948B-1728B52AA6E4}">
                <adec:decorative xmlns:adec="http://schemas.microsoft.com/office/drawing/2017/decorative" val="1"/>
              </a:ext>
            </a:extLst>
          </p:cNvPr>
          <p:cNvSpPr/>
          <p:nvPr/>
        </p:nvSpPr>
        <p:spPr>
          <a:xfrm>
            <a:off x="0" y="0"/>
            <a:ext cx="6126480" cy="5143500"/>
          </a:xfrm>
          <a:prstGeom prst="rect">
            <a:avLst/>
          </a:prstGeom>
          <a:solidFill>
            <a:srgbClr val="0E1B2E">
              <a:alpha val="80000"/>
            </a:srgbClr>
          </a:solidFill>
          <a:ln/>
        </p:spPr>
        <p:txBody>
          <a:bodyPr/>
          <a:lstStyle/>
          <a:p>
            <a:endParaRPr lang="en-US"/>
          </a:p>
        </p:txBody>
      </p:sp>
      <p:sp>
        <p:nvSpPr>
          <p:cNvPr id="3" name="Text 1"/>
          <p:cNvSpPr/>
          <p:nvPr/>
        </p:nvSpPr>
        <p:spPr>
          <a:xfrm>
            <a:off x="640080" y="329184"/>
            <a:ext cx="5669280" cy="365760"/>
          </a:xfrm>
          <a:prstGeom prst="rect">
            <a:avLst/>
          </a:prstGeom>
          <a:noFill/>
          <a:ln/>
        </p:spPr>
        <p:txBody>
          <a:bodyPr wrap="square" lIns="0" tIns="0" rIns="0" bIns="0" rtlCol="0" anchor="ctr"/>
          <a:lstStyle/>
          <a:p>
            <a:pPr marL="0" indent="0" algn="l">
              <a:buNone/>
            </a:pPr>
            <a:r>
              <a:rPr lang="en-US" sz="2000" b="1" kern="0" spc="200" dirty="0">
                <a:solidFill>
                  <a:srgbClr val="E4C77A"/>
                </a:solidFill>
                <a:latin typeface="Calibri" pitchFamily="34" charset="0"/>
                <a:ea typeface="Calibri" pitchFamily="34" charset="-122"/>
                <a:cs typeface="Calibri" pitchFamily="34" charset="-120"/>
              </a:rPr>
              <a:t>INVITATION</a:t>
            </a:r>
            <a:endParaRPr lang="en-US" sz="2000" dirty="0"/>
          </a:p>
        </p:txBody>
      </p:sp>
      <p:sp>
        <p:nvSpPr>
          <p:cNvPr id="4" name="Text 0"/>
          <p:cNvSpPr>
            <a:spLocks noGrp="1"/>
          </p:cNvSpPr>
          <p:nvPr>
            <p:ph type="title" idx="100" hasCustomPrompt="1"/>
          </p:nvPr>
        </p:nvSpPr>
        <p:spPr>
          <a:xfrm>
            <a:off x="640080" y="603504"/>
            <a:ext cx="5760720" cy="914400"/>
          </a:xfrm>
          <a:prstGeom prst="rect">
            <a:avLst/>
          </a:prstGeom>
          <a:noFill/>
          <a:ln/>
        </p:spPr>
        <p:txBody>
          <a:bodyPr wrap="square" lIns="0" tIns="0" rIns="0" bIns="0" rtlCol="0"/>
          <a:lstStyle/>
          <a:p>
            <a:pPr marL="0" indent="0" algn="l">
              <a:buNone/>
            </a:pPr>
            <a:r>
              <a:rPr lang="en-US" sz="2500" b="1" dirty="0">
                <a:solidFill>
                  <a:srgbClr val="F4ECDB"/>
                </a:solidFill>
                <a:latin typeface="Georgia" pitchFamily="34" charset="0"/>
                <a:ea typeface="Georgia" pitchFamily="34" charset="-122"/>
                <a:cs typeface="Georgia" pitchFamily="34" charset="-120"/>
              </a:rPr>
              <a:t>Come While We Stand and Sing</a:t>
            </a:r>
            <a:endParaRPr lang="en-US" sz="2500" dirty="0"/>
          </a:p>
        </p:txBody>
      </p:sp>
      <p:sp>
        <p:nvSpPr>
          <p:cNvPr id="5" name="Text 3"/>
          <p:cNvSpPr/>
          <p:nvPr/>
        </p:nvSpPr>
        <p:spPr>
          <a:xfrm>
            <a:off x="640080" y="1389888"/>
            <a:ext cx="5486400" cy="502920"/>
          </a:xfrm>
          <a:prstGeom prst="rect">
            <a:avLst/>
          </a:prstGeom>
          <a:noFill/>
          <a:ln/>
        </p:spPr>
        <p:txBody>
          <a:bodyPr wrap="square" lIns="0" tIns="0" rIns="0" bIns="0" rtlCol="0" anchor="ctr"/>
          <a:lstStyle/>
          <a:p>
            <a:pPr marL="0" indent="0" algn="l">
              <a:buNone/>
            </a:pPr>
            <a:r>
              <a:rPr lang="en-US" sz="2200" i="1" dirty="0">
                <a:solidFill>
                  <a:srgbClr val="E4C77A"/>
                </a:solidFill>
                <a:latin typeface="Georgia" pitchFamily="34" charset="0"/>
                <a:ea typeface="Georgia" pitchFamily="34" charset="-122"/>
                <a:cs typeface="Georgia" pitchFamily="34" charset="-120"/>
              </a:rPr>
              <a:t>God’s Word is not merely to be studied; it is to be obeyed.</a:t>
            </a:r>
            <a:endParaRPr lang="en-US" sz="2200" dirty="0"/>
          </a:p>
        </p:txBody>
      </p:sp>
      <p:sp>
        <p:nvSpPr>
          <p:cNvPr id="6" name="Text 4"/>
          <p:cNvSpPr/>
          <p:nvPr/>
        </p:nvSpPr>
        <p:spPr>
          <a:xfrm>
            <a:off x="640080" y="2011680"/>
            <a:ext cx="5486400" cy="310896"/>
          </a:xfrm>
          <a:prstGeom prst="rect">
            <a:avLst/>
          </a:prstGeom>
          <a:noFill/>
          <a:ln/>
        </p:spPr>
        <p:txBody>
          <a:bodyPr wrap="square" lIns="0" tIns="0" rIns="0" bIns="0" rtlCol="0" anchor="ctr"/>
          <a:lstStyle/>
          <a:p>
            <a:pPr marL="0" indent="0">
              <a:buNone/>
            </a:pPr>
            <a:r>
              <a:rPr lang="en-US" sz="2000" b="1" kern="0" spc="100" dirty="0">
                <a:solidFill>
                  <a:srgbClr val="E4C77A"/>
                </a:solidFill>
                <a:latin typeface="Calibri" pitchFamily="34" charset="0"/>
                <a:ea typeface="Calibri" pitchFamily="34" charset="-122"/>
                <a:cs typeface="Calibri" pitchFamily="34" charset="-120"/>
              </a:rPr>
              <a:t>IF YOU ARE OUTSIDE OF CHRIST</a:t>
            </a:r>
            <a:endParaRPr lang="en-US" sz="2000" dirty="0"/>
          </a:p>
        </p:txBody>
      </p:sp>
      <p:sp>
        <p:nvSpPr>
          <p:cNvPr id="7" name="Text 5"/>
          <p:cNvSpPr/>
          <p:nvPr/>
        </p:nvSpPr>
        <p:spPr>
          <a:xfrm>
            <a:off x="640080" y="2340864"/>
            <a:ext cx="5440680" cy="914400"/>
          </a:xfrm>
          <a:prstGeom prst="rect">
            <a:avLst/>
          </a:prstGeom>
          <a:noFill/>
          <a:ln/>
        </p:spPr>
        <p:txBody>
          <a:bodyPr wrap="square" lIns="0" tIns="0" rIns="0" bIns="0" rtlCol="0" anchor="t"/>
          <a:lstStyle/>
          <a:p>
            <a:pPr marL="0" indent="0" algn="l">
              <a:lnSpc>
                <a:spcPct val="102000"/>
              </a:lnSpc>
              <a:buNone/>
            </a:pPr>
            <a:r>
              <a:rPr lang="en-US" sz="2000" dirty="0">
                <a:solidFill>
                  <a:srgbClr val="F4ECDB"/>
                </a:solidFill>
                <a:latin typeface="Calibri" pitchFamily="34" charset="0"/>
                <a:ea typeface="Calibri" pitchFamily="34" charset="-122"/>
                <a:cs typeface="Calibri" pitchFamily="34" charset="-120"/>
              </a:rPr>
              <a:t>Hear, believe that Jesus is the Son of God, repent, confess Him, and be baptized for the remission of sins.</a:t>
            </a:r>
            <a:endParaRPr lang="en-US" sz="2000" dirty="0"/>
          </a:p>
        </p:txBody>
      </p:sp>
      <p:sp>
        <p:nvSpPr>
          <p:cNvPr id="8" name="Text 6"/>
          <p:cNvSpPr/>
          <p:nvPr/>
        </p:nvSpPr>
        <p:spPr>
          <a:xfrm>
            <a:off x="640080" y="3310128"/>
            <a:ext cx="5486400" cy="310896"/>
          </a:xfrm>
          <a:prstGeom prst="rect">
            <a:avLst/>
          </a:prstGeom>
          <a:noFill/>
          <a:ln/>
        </p:spPr>
        <p:txBody>
          <a:bodyPr wrap="square" lIns="0" tIns="0" rIns="0" bIns="0" rtlCol="0" anchor="ctr"/>
          <a:lstStyle/>
          <a:p>
            <a:pPr marL="0" indent="0">
              <a:buNone/>
            </a:pPr>
            <a:r>
              <a:rPr lang="en-US" sz="2000" b="1" kern="0" spc="100" dirty="0">
                <a:solidFill>
                  <a:srgbClr val="E4C77A"/>
                </a:solidFill>
                <a:latin typeface="Calibri" pitchFamily="34" charset="0"/>
                <a:ea typeface="Calibri" pitchFamily="34" charset="-122"/>
                <a:cs typeface="Calibri" pitchFamily="34" charset="-120"/>
              </a:rPr>
              <a:t>IF YOU HAVE WANDERED</a:t>
            </a:r>
            <a:endParaRPr lang="en-US" sz="2000" dirty="0"/>
          </a:p>
        </p:txBody>
      </p:sp>
      <p:sp>
        <p:nvSpPr>
          <p:cNvPr id="9" name="Text 7"/>
          <p:cNvSpPr/>
          <p:nvPr/>
        </p:nvSpPr>
        <p:spPr>
          <a:xfrm>
            <a:off x="640080" y="3639312"/>
            <a:ext cx="5440680" cy="502920"/>
          </a:xfrm>
          <a:prstGeom prst="rect">
            <a:avLst/>
          </a:prstGeom>
          <a:noFill/>
          <a:ln/>
        </p:spPr>
        <p:txBody>
          <a:bodyPr wrap="square" lIns="0" tIns="0" rIns="0" bIns="0" rtlCol="0" anchor="t"/>
          <a:lstStyle/>
          <a:p>
            <a:pPr marL="0" indent="0" algn="l">
              <a:lnSpc>
                <a:spcPct val="102000"/>
              </a:lnSpc>
              <a:buNone/>
            </a:pPr>
            <a:r>
              <a:rPr lang="en-US" sz="2000" dirty="0">
                <a:solidFill>
                  <a:srgbClr val="F4ECDB"/>
                </a:solidFill>
                <a:latin typeface="Calibri" pitchFamily="34" charset="0"/>
                <a:ea typeface="Calibri" pitchFamily="34" charset="-122"/>
                <a:cs typeface="Calibri" pitchFamily="34" charset="-120"/>
              </a:rPr>
              <a:t>Repent, confess your sin, and return to faithful service.</a:t>
            </a:r>
            <a:endParaRPr lang="en-US" sz="2000" dirty="0"/>
          </a:p>
        </p:txBody>
      </p:sp>
      <p:sp>
        <p:nvSpPr>
          <p:cNvPr id="10" name="Text 8"/>
          <p:cNvSpPr/>
          <p:nvPr/>
        </p:nvSpPr>
        <p:spPr>
          <a:xfrm>
            <a:off x="640080" y="4315968"/>
            <a:ext cx="5486400" cy="548640"/>
          </a:xfrm>
          <a:prstGeom prst="rect">
            <a:avLst/>
          </a:prstGeom>
          <a:noFill/>
          <a:ln/>
        </p:spPr>
        <p:txBody>
          <a:bodyPr wrap="square" lIns="0" tIns="0" rIns="0" bIns="0" rtlCol="0" anchor="ctr"/>
          <a:lstStyle/>
          <a:p>
            <a:pPr marL="0" indent="0" algn="l">
              <a:buNone/>
            </a:pPr>
            <a:r>
              <a:rPr lang="en-US" sz="2200" b="1" i="1" dirty="0">
                <a:solidFill>
                  <a:srgbClr val="E4C77A"/>
                </a:solidFill>
                <a:latin typeface="Georgia" pitchFamily="34" charset="0"/>
                <a:ea typeface="Georgia" pitchFamily="34" charset="-122"/>
                <a:cs typeface="Georgia" pitchFamily="34" charset="-120"/>
              </a:rPr>
              <a:t>The way is open. Christ is ready to save.</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1435</Words>
  <Application>Microsoft Office PowerPoint</Application>
  <PresentationFormat>On-screen Show (16:9)</PresentationFormat>
  <Paragraphs>58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From Myth to Message</vt:lpstr>
      <vt:lpstr>A Simple Misunderstanding</vt:lpstr>
      <vt:lpstr>Culture Can Confuse What God Has Made Clear</vt:lpstr>
      <vt:lpstr>Context Protects Us from Careless Conclusions</vt:lpstr>
      <vt:lpstr>God’s Word Stands Above Human Imagination</vt:lpstr>
      <vt:lpstr>The Same Word That Warns Also Invites</vt:lpstr>
      <vt:lpstr>What Will You Do with the Word of God?</vt:lpstr>
      <vt:lpstr>Come While We Stand and Sing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Joshua Hetrick</dc:creator>
  <cp:lastModifiedBy>Joshua Hetrick</cp:lastModifiedBy>
  <cp:revision>1</cp:revision>
  <dcterms:created xsi:type="dcterms:W3CDTF">2026-07-11T12:36:04Z</dcterms:created>
  <dcterms:modified xsi:type="dcterms:W3CDTF">2026-07-11T13:00:39Z</dcterms:modified>
</cp:coreProperties>
</file>