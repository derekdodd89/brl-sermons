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5" r:id="rId13"/>
    <p:sldId id="268" r:id="rId14"/>
    <p:sldId id="259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FF"/>
    <a:srgbClr val="0000FF"/>
    <a:srgbClr val="00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8BEA-503A-4A54-8D09-191CF6A28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35858-E67C-4743-AE7E-4E01862D7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929D-1480-4AC5-8B00-82886325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F1F3E-E98F-48D4-82DC-DDF2D5DC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34BBD-A9F6-4B8D-9EFA-807358C8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42BC2-D505-43DB-B281-92008BDEB2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309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6DD5-30FC-418F-986D-9E44B7C7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2FA1-06E6-4C81-AE4B-A1AF9020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35DA3-8F67-4801-97FD-02B155F4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5430-4549-4277-B14E-A1F52CA2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42AD-A0D3-4576-84A5-609C5749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24A1A-BA53-4952-8610-BC52374B0E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52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B9BC-426D-4AE1-B944-576E7148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272E1-4D08-4D38-803A-30633FCE2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2333-E57C-40CC-AF46-56D5D998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9F01-FD58-4BFB-87DC-DB1347D4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D6D77-F87A-4DAE-AC97-243DED9E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67369-2209-410B-AB54-60B6C8FE11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23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AD1B-433A-4881-B1EF-874D4883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A8DA-F5A9-4430-855F-8050A3058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0589E-FA26-4C98-B880-F927F0249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01BC7-A7D3-474D-A1C0-7E09C608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89984-58B1-48A8-A0AF-5AEF7C62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11C79-7A05-4153-9F4D-14801D55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AAADC-63FE-4F43-9AF8-9EAC20AF5E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99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FACE-4EDA-46C4-A536-9EC7D7EF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72BC-6FDE-4F74-9A63-B5DD6442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1C841-2786-4C7F-836E-B780C7C48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D3E65-C691-4EB7-8C0B-955ED3B7D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83E98-DB62-484A-8D8C-51E5B2DBC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BA63C-C4FC-4C56-A50C-484E1F65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C2C8-CDAD-4D16-9797-BEF02867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62AB5-D83C-420E-A4D9-019F87B6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D6BE3-9626-4E73-904C-3C0D84FB05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66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3B52-F846-468C-8370-04A89CF3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9ADC4-2967-48D4-AE3E-87FE161F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FABE9-C4A5-478E-B8E9-898FAC78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5B645-CCE7-44F0-8A8C-F2FB7F01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57FE0C-6B2A-4337-BDCF-D4904B777C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40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1F0F1-A460-4DC4-BC9F-C83CC063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EF973-4A81-417F-B228-12308064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C876E-A959-480E-A1FC-3601E5D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79E541-4168-44BA-B66A-0654146D84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92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C56E-CD20-452E-B223-A41247EE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19A6-92A7-420B-9CA4-CF92E7D6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33F9C-AFF3-49F6-B918-D514EDCDC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595BC-C19B-4747-BDEE-E3B2A2D6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4C94A-4E81-47F4-BC00-934930FA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BD28-0DFB-4DDE-8D25-A53B4BB8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01CAB-AA4D-4363-B97C-856F6B9D59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02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4FF2-D7CB-4AF6-8FC3-7625AF60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7FED3-249A-4E35-A341-20993A4B6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7FD20-857F-4062-905E-CF2336017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460ED-3104-4E48-A0D8-98ADA919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676FB-2880-43B2-B291-0B8857EF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03EAA-4A1E-4EF4-8516-890EE405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6486A8-130F-447B-8198-D56E90F763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23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F1A0-26D7-44A2-887A-3BC0405E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12B83-B988-4D02-B2E1-718742039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651DC-1329-4491-ACE3-59E6C92C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FE28C-76D4-4F3C-AB04-3EC14874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5D1E-068B-4F76-B7A9-A523D299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EEB9-E0F1-4046-A818-7241755D67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01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635B8-2D7D-4B4E-BEFB-08EF4E320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0AEC7-0461-489A-9648-C1275E7FB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BB776-EA14-4A5F-9267-7ADA5E45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38CF7-D803-42CF-9758-7D065D73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14E52-EF2C-474E-937A-B063F3C2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A7969-BE1F-43E3-997D-1DC5B10D6B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93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B34A-A30A-47E7-9FA2-A3120AE6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55705-5F4D-42BC-8C09-5FB71CE69D4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D8776928-3F20-4BF0-A9F5-01837146D35A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65017-C477-46F7-BB58-FA999EAE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1B0B2-7951-4B73-BAE1-F3332C2D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9CE4B-EB8B-4120-8881-783F4FAE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879419D-7549-4D69-B3A9-A14885DC4D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176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4AAAA96E-D2C2-4430-94B0-4633A7982EF0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1676400"/>
            <a:ext cx="8389938" cy="4421188"/>
            <a:chOff x="238" y="1056"/>
            <a:chExt cx="5285" cy="2785"/>
          </a:xfrm>
        </p:grpSpPr>
        <p:grpSp>
          <p:nvGrpSpPr>
            <p:cNvPr id="8195" name="Group 3">
              <a:extLst>
                <a:ext uri="{FF2B5EF4-FFF2-40B4-BE49-F238E27FC236}">
                  <a16:creationId xmlns:a16="http://schemas.microsoft.com/office/drawing/2014/main" id="{BD8B61B8-9776-4DE5-AB25-85AD8ABF3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8196" name="Rectangle 4">
                <a:extLst>
                  <a:ext uri="{FF2B5EF4-FFF2-40B4-BE49-F238E27FC236}">
                    <a16:creationId xmlns:a16="http://schemas.microsoft.com/office/drawing/2014/main" id="{23A9DDB4-69CE-4EFF-8A55-5275B3A42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7" name="Freeform 5">
                <a:extLst>
                  <a:ext uri="{FF2B5EF4-FFF2-40B4-BE49-F238E27FC236}">
                    <a16:creationId xmlns:a16="http://schemas.microsoft.com/office/drawing/2014/main" id="{DBF97B4C-736B-46D3-9011-00B7CD673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0 w 5273"/>
                  <a:gd name="T3" fmla="*/ 0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8" name="Freeform 6">
                <a:extLst>
                  <a:ext uri="{FF2B5EF4-FFF2-40B4-BE49-F238E27FC236}">
                    <a16:creationId xmlns:a16="http://schemas.microsoft.com/office/drawing/2014/main" id="{2E63A35A-C491-41E0-BCAB-7DEB3C132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5272 w 5273"/>
                  <a:gd name="T3" fmla="*/ 1392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9" name="Group 7">
              <a:extLst>
                <a:ext uri="{FF2B5EF4-FFF2-40B4-BE49-F238E27FC236}">
                  <a16:creationId xmlns:a16="http://schemas.microsoft.com/office/drawing/2014/main" id="{349191B2-1AA2-4018-AF5B-43D8404C7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8200" name="Rectangle 8">
                <a:extLst>
                  <a:ext uri="{FF2B5EF4-FFF2-40B4-BE49-F238E27FC236}">
                    <a16:creationId xmlns:a16="http://schemas.microsoft.com/office/drawing/2014/main" id="{69455547-79F2-4BB7-8653-2A819CB6E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1" name="Freeform 9">
                <a:extLst>
                  <a:ext uri="{FF2B5EF4-FFF2-40B4-BE49-F238E27FC236}">
                    <a16:creationId xmlns:a16="http://schemas.microsoft.com/office/drawing/2014/main" id="{175A24D6-4BC0-4B49-A2B6-43A6A75B2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0 w 5281"/>
                  <a:gd name="T3" fmla="*/ 0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2" name="Freeform 10">
                <a:extLst>
                  <a:ext uri="{FF2B5EF4-FFF2-40B4-BE49-F238E27FC236}">
                    <a16:creationId xmlns:a16="http://schemas.microsoft.com/office/drawing/2014/main" id="{F505A677-2ACD-4C15-B4FB-494EE1A84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5280 w 5281"/>
                  <a:gd name="T3" fmla="*/ 96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03" name="Group 11">
              <a:extLst>
                <a:ext uri="{FF2B5EF4-FFF2-40B4-BE49-F238E27FC236}">
                  <a16:creationId xmlns:a16="http://schemas.microsoft.com/office/drawing/2014/main" id="{083D12C4-27CF-4431-BC2F-9798886848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" y="1200"/>
              <a:ext cx="97" cy="1104"/>
              <a:chOff x="338" y="1200"/>
              <a:chExt cx="97" cy="1104"/>
            </a:xfrm>
          </p:grpSpPr>
          <p:sp useBgFill="1">
            <p:nvSpPr>
              <p:cNvPr id="8204" name="Rectangle 12">
                <a:extLst>
                  <a:ext uri="{FF2B5EF4-FFF2-40B4-BE49-F238E27FC236}">
                    <a16:creationId xmlns:a16="http://schemas.microsoft.com/office/drawing/2014/main" id="{2AB0C1A8-B61C-4F7E-A7C5-4144361CA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" y="1201"/>
                <a:ext cx="96" cy="1103"/>
              </a:xfrm>
              <a:prstGeom prst="rect">
                <a:avLst/>
              </a:pr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5" name="Freeform 13">
                <a:extLst>
                  <a:ext uri="{FF2B5EF4-FFF2-40B4-BE49-F238E27FC236}">
                    <a16:creationId xmlns:a16="http://schemas.microsoft.com/office/drawing/2014/main" id="{CBF5E415-FBD5-4965-B34D-CB93BB687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96 w 97"/>
                  <a:gd name="T3" fmla="*/ 1103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E9CA5EB9-2686-4CA7-9DB8-EF1187FF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0 w 97"/>
                  <a:gd name="T3" fmla="*/ 0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9BBA7BF1-5575-4B28-869E-3271792BC5F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836613" y="2133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5261ABF1-27A8-49DE-8278-45C2FA2D8498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0386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9838CC22-A004-457E-9EEB-3E1B2693A77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B9C9C3A9-A9AA-44D0-B082-57BC163A66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75E086A6-A8BD-4EC2-90D5-0AAA11FCBF8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29B2675-5743-43A6-8A74-F0DEFA6BB77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6D6A-5B97-4AB6-B762-402D4AD2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81F7-C143-490D-B16A-6B002C3FE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6FCD-A276-41CF-B2EB-01005467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9CB83-6DA1-4803-B959-FCC55D5F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418C-75DD-481D-8CAA-1F1A2166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4D9DD-F519-4C7D-9834-0D31F02384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631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6975-2F4C-48AF-B20E-B886CCB0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71EB-F29D-4C5C-B6F9-338C07526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22CF3-9458-41F4-964E-87C2F891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C3DB-803F-40DC-A1D9-AC3364A1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EA80F-C601-4C8D-AFB4-A2F72A58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1F7343-7A70-4D49-A7D6-FF5547E7A8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841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1DC3-F8F0-4FE1-90D1-D48C46F9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D5C4B-5168-41DE-9994-6A5765B6A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81479-9D83-4FBB-AB52-6D4A9E43B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54C12-D7A5-4717-8E84-B72A8DC5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F9FF3-C342-4559-8A2D-031A6E89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BC48A-EC45-4181-B910-D181D51A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235-0C81-4340-9F05-77BF3B39F4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41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80DE-6FEA-4DAF-A463-A40CFA4A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D3AF4-9A94-4F35-AF38-9774344BC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F5E2-3A5B-4099-B484-1EC50957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747F5-3C99-463B-993E-D3194B3B5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99B9E-DD4D-4AB4-9CA9-A395D772E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E0749-9836-459C-8D0C-7D3F7A61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914A9-ADD1-4208-9CFA-D236955A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7138-EE60-4377-84C2-1FA621D0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42539-2E11-4EBE-9217-A1B4A98470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902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DA7E-9630-4C3F-BDD9-B97DE4A5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E66FD-187D-4FC1-BF5A-B7D1F9CE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0458D-D5F0-41A9-B489-34C134DC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98674-2413-4634-964E-9DF7253A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E02D8-5A93-49C3-990E-8AB34B09FF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601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3FA34-C63A-436C-ADAF-67AECED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2EE1E-4008-4A96-B526-0F5FD01C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B13D-F02B-4A27-B25F-60C2BBFB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C5792-CA66-4A97-9B31-3EEA6A2E43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11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1E4D-8C22-4823-BC57-E4509790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55A2-2322-4AC5-8987-762BBD1F0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5E9D-278F-4922-A299-9D6AF1B23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BC204-5812-418D-B02A-001B04DB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B782-C0A0-4442-B01A-745332C2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71ADF-6A2D-475A-A2C8-0EC17650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19C8B8-3035-4A94-8BF9-444509D5A6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499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08F5-F13A-4DBD-9F1A-FAC55C9A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2FA6F-18F4-461B-8906-A8F61A7DB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EB8B3-7C91-468B-A631-2CC8975E0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328B3-878E-414E-B1E5-9E7100C3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E28A0-B613-46E8-A708-E5D76EC4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F26F-673F-47CC-ACCF-A6DF1E23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56881-2FDA-4364-ADC5-9D764EE537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2516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0F14-E595-48B9-8DF3-8A26A8B9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471C7-D80C-46DE-AFC3-3B3B1F72B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1E30-E771-4EAE-B970-39A50B35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14D8-665E-410D-9EC2-2459F87C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72088-4849-4D39-9DE3-AA297135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0ED41-FA8F-4EEC-89A9-71D74B298E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871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1BB02-3546-4046-8273-B7A49639A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7500" y="342900"/>
            <a:ext cx="1943100" cy="5524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D3A25-F6EB-40A3-A182-EC840051F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42900"/>
            <a:ext cx="5676900" cy="5524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A9CE-6D6B-4D1E-B1BB-79C61614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32A9B-7834-48B0-B69D-1C4303DF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FC67-86B4-47C2-8468-680FC9F6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9199E1-B564-4D14-A7B4-7FB60394C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7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8857A9-3308-467E-A606-F2F11E3AD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BF98E4-2521-4BF2-B51A-FC17FDDB7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2A94CE-2DFA-4C62-9CE8-B0323A592D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49B9DD-2A9A-45BA-95EC-5BD3DFE4BC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2BED10-EB7E-4CBD-A4A8-CF3F2B84D4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CB4D99-F1CF-4C69-9285-586AB32753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2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>
            <a:extLst>
              <a:ext uri="{FF2B5EF4-FFF2-40B4-BE49-F238E27FC236}">
                <a16:creationId xmlns:a16="http://schemas.microsoft.com/office/drawing/2014/main" id="{EDB5681E-614A-4377-8DB4-4899C19EA9C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800"/>
            <a:ext cx="8383588" cy="6022975"/>
            <a:chOff x="240" y="192"/>
            <a:chExt cx="5281" cy="3794"/>
          </a:xfrm>
        </p:grpSpPr>
        <p:grpSp>
          <p:nvGrpSpPr>
            <p:cNvPr id="7171" name="Group 3">
              <a:extLst>
                <a:ext uri="{FF2B5EF4-FFF2-40B4-BE49-F238E27FC236}">
                  <a16:creationId xmlns:a16="http://schemas.microsoft.com/office/drawing/2014/main" id="{2F83DFD8-8661-48FC-9BFB-0E83A83AC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008"/>
              <a:ext cx="5281" cy="2978"/>
              <a:chOff x="240" y="1008"/>
              <a:chExt cx="5281" cy="2978"/>
            </a:xfrm>
          </p:grpSpPr>
          <p:sp>
            <p:nvSpPr>
              <p:cNvPr id="7172" name="Rectangle 4">
                <a:extLst>
                  <a:ext uri="{FF2B5EF4-FFF2-40B4-BE49-F238E27FC236}">
                    <a16:creationId xmlns:a16="http://schemas.microsoft.com/office/drawing/2014/main" id="{9ED6F0EE-478D-4975-9D64-C81CF2DA7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" y="1010"/>
                <a:ext cx="5269" cy="2976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3" name="Freeform 5">
                <a:extLst>
                  <a:ext uri="{FF2B5EF4-FFF2-40B4-BE49-F238E27FC236}">
                    <a16:creationId xmlns:a16="http://schemas.microsoft.com/office/drawing/2014/main" id="{C74111C9-766E-4A2E-A69B-417543FD0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1008"/>
                <a:ext cx="5269" cy="2977"/>
              </a:xfrm>
              <a:custGeom>
                <a:avLst/>
                <a:gdLst>
                  <a:gd name="T0" fmla="*/ 5268 w 5269"/>
                  <a:gd name="T1" fmla="*/ 0 h 2977"/>
                  <a:gd name="T2" fmla="*/ 0 w 5269"/>
                  <a:gd name="T3" fmla="*/ 0 h 2977"/>
                  <a:gd name="T4" fmla="*/ 0 w 5269"/>
                  <a:gd name="T5" fmla="*/ 2976 h 2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0" y="0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4" name="Freeform 6">
                <a:extLst>
                  <a:ext uri="{FF2B5EF4-FFF2-40B4-BE49-F238E27FC236}">
                    <a16:creationId xmlns:a16="http://schemas.microsoft.com/office/drawing/2014/main" id="{5F190C58-123E-4706-940A-94D63709D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" y="1008"/>
                <a:ext cx="5269" cy="2977"/>
              </a:xfrm>
              <a:custGeom>
                <a:avLst/>
                <a:gdLst>
                  <a:gd name="T0" fmla="*/ 5268 w 5269"/>
                  <a:gd name="T1" fmla="*/ 0 h 2977"/>
                  <a:gd name="T2" fmla="*/ 5268 w 5269"/>
                  <a:gd name="T3" fmla="*/ 2976 h 2977"/>
                  <a:gd name="T4" fmla="*/ 0 w 5269"/>
                  <a:gd name="T5" fmla="*/ 2976 h 2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5268" y="2976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5" name="Group 7">
              <a:extLst>
                <a:ext uri="{FF2B5EF4-FFF2-40B4-BE49-F238E27FC236}">
                  <a16:creationId xmlns:a16="http://schemas.microsoft.com/office/drawing/2014/main" id="{659D4999-DDB4-425A-BC22-2FEFE480F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103"/>
              <a:ext cx="97" cy="2785"/>
              <a:chOff x="336" y="1103"/>
              <a:chExt cx="97" cy="2785"/>
            </a:xfrm>
          </p:grpSpPr>
          <p:sp useBgFill="1">
            <p:nvSpPr>
              <p:cNvPr id="7176" name="Rectangle 8">
                <a:extLst>
                  <a:ext uri="{FF2B5EF4-FFF2-40B4-BE49-F238E27FC236}">
                    <a16:creationId xmlns:a16="http://schemas.microsoft.com/office/drawing/2014/main" id="{BE01519B-DAF0-4911-94D6-14FFE0A7E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7" name="Freeform 9">
                <a:extLst>
                  <a:ext uri="{FF2B5EF4-FFF2-40B4-BE49-F238E27FC236}">
                    <a16:creationId xmlns:a16="http://schemas.microsoft.com/office/drawing/2014/main" id="{224472E3-6EE7-40C9-80F4-26836C57F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" name="Freeform 10">
                <a:extLst>
                  <a:ext uri="{FF2B5EF4-FFF2-40B4-BE49-F238E27FC236}">
                    <a16:creationId xmlns:a16="http://schemas.microsoft.com/office/drawing/2014/main" id="{95D0DD9A-62B9-4CE6-B479-CCF6C3CD4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9" name="Group 11">
              <a:extLst>
                <a:ext uri="{FF2B5EF4-FFF2-40B4-BE49-F238E27FC236}">
                  <a16:creationId xmlns:a16="http://schemas.microsoft.com/office/drawing/2014/main" id="{DE8CDF52-B19D-4926-89E9-F58FD3607C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92"/>
              <a:ext cx="193" cy="721"/>
              <a:chOff x="240" y="192"/>
              <a:chExt cx="193" cy="721"/>
            </a:xfrm>
          </p:grpSpPr>
          <p:sp>
            <p:nvSpPr>
              <p:cNvPr id="7180" name="Rectangle 12">
                <a:extLst>
                  <a:ext uri="{FF2B5EF4-FFF2-40B4-BE49-F238E27FC236}">
                    <a16:creationId xmlns:a16="http://schemas.microsoft.com/office/drawing/2014/main" id="{B39C34BF-A144-48F4-BFC6-28E65A94D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92"/>
                <a:ext cx="192" cy="720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1" name="Freeform 13">
                <a:extLst>
                  <a:ext uri="{FF2B5EF4-FFF2-40B4-BE49-F238E27FC236}">
                    <a16:creationId xmlns:a16="http://schemas.microsoft.com/office/drawing/2014/main" id="{9FE16D2E-9D44-4E09-9C59-F351FA7D0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192"/>
                <a:ext cx="193" cy="721"/>
              </a:xfrm>
              <a:custGeom>
                <a:avLst/>
                <a:gdLst>
                  <a:gd name="T0" fmla="*/ 192 w 193"/>
                  <a:gd name="T1" fmla="*/ 0 h 721"/>
                  <a:gd name="T2" fmla="*/ 0 w 193"/>
                  <a:gd name="T3" fmla="*/ 0 h 721"/>
                  <a:gd name="T4" fmla="*/ 0 w 193"/>
                  <a:gd name="T5" fmla="*/ 72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2" name="Freeform 14">
                <a:extLst>
                  <a:ext uri="{FF2B5EF4-FFF2-40B4-BE49-F238E27FC236}">
                    <a16:creationId xmlns:a16="http://schemas.microsoft.com/office/drawing/2014/main" id="{13560FC8-AA0A-4737-B3A2-EB0813EF9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192"/>
                <a:ext cx="193" cy="721"/>
              </a:xfrm>
              <a:custGeom>
                <a:avLst/>
                <a:gdLst>
                  <a:gd name="T0" fmla="*/ 192 w 193"/>
                  <a:gd name="T1" fmla="*/ 0 h 721"/>
                  <a:gd name="T2" fmla="*/ 192 w 193"/>
                  <a:gd name="T3" fmla="*/ 720 h 721"/>
                  <a:gd name="T4" fmla="*/ 0 w 193"/>
                  <a:gd name="T5" fmla="*/ 72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192" y="72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183" name="Rectangle 15">
            <a:extLst>
              <a:ext uri="{FF2B5EF4-FFF2-40B4-BE49-F238E27FC236}">
                <a16:creationId xmlns:a16="http://schemas.microsoft.com/office/drawing/2014/main" id="{B67A5B41-AE71-431E-A722-BDB0E0A8E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9E885C3E-4708-4220-92B1-F3153CC5F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52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B7E5B64F-565D-4133-9E30-A8D5244E04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3230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D3A4EDB6-1568-44A7-8FD3-3D54154884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30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09BEBCD3-974A-47EA-A7EA-C58C660D27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230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+mn-lt"/>
              </a:defRPr>
            </a:lvl1pPr>
          </a:lstStyle>
          <a:p>
            <a:fld id="{50DC94C6-D7CC-4510-8A14-CDFBE1613BE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>
            <a:extLst>
              <a:ext uri="{FF2B5EF4-FFF2-40B4-BE49-F238E27FC236}">
                <a16:creationId xmlns:a16="http://schemas.microsoft.com/office/drawing/2014/main" id="{8AA6A1D1-DA1F-4A8B-9119-F2BEE0C096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1905000"/>
            <a:ext cx="7162800" cy="1981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TopLeft"/>
              <a:lightRig rig="legacyNormal3" dir="r"/>
            </a:scene3d>
            <a:sp3d extrusionH="201600" prstMaterial="legacyMetal">
              <a:extrusionClr>
                <a:srgbClr val="FFFFFF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Christ is Superior to Moses</a:t>
            </a:r>
          </a:p>
        </p:txBody>
      </p:sp>
      <p:sp>
        <p:nvSpPr>
          <p:cNvPr id="2054" name="WordArt 6">
            <a:extLst>
              <a:ext uri="{FF2B5EF4-FFF2-40B4-BE49-F238E27FC236}">
                <a16:creationId xmlns:a16="http://schemas.microsoft.com/office/drawing/2014/main" id="{3D915BFB-11A4-47AD-857A-2B5318E4DF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00200" y="4572000"/>
            <a:ext cx="5924550" cy="1295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Hebrews Chapter Three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26DF790F-1960-49CD-8DA3-51921B6DD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1" name="Text Box 5">
            <a:extLst>
              <a:ext uri="{FF2B5EF4-FFF2-40B4-BE49-F238E27FC236}">
                <a16:creationId xmlns:a16="http://schemas.microsoft.com/office/drawing/2014/main" id="{E4DCE779-2801-4988-8073-CE848B3E0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15000"/>
            <a:ext cx="838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b="1">
                <a:solidFill>
                  <a:schemeClr val="bg1"/>
                </a:solidFill>
              </a:rPr>
              <a:t>Christ Faith Is Superior to Moses’s v. 1-2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C30BDD7C-99A7-47BF-99B2-3A685F727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13">
            <a:extLst>
              <a:ext uri="{FF2B5EF4-FFF2-40B4-BE49-F238E27FC236}">
                <a16:creationId xmlns:a16="http://schemas.microsoft.com/office/drawing/2014/main" id="{569D2695-FE21-4F16-8C58-925526011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>
                <a:solidFill>
                  <a:schemeClr val="bg1"/>
                </a:solidFill>
              </a:rPr>
              <a:t>Christian Brotherhood v. 1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D54FC51D-C48A-4F3C-BBFD-3E4F38562D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77850" indent="-577850"/>
            <a:r>
              <a:rPr lang="en-US" altLang="en-US" sz="2800">
                <a:solidFill>
                  <a:schemeClr val="bg1"/>
                </a:solidFill>
              </a:rPr>
              <a:t>The combinations of these two words occur only here in the New Testament.</a:t>
            </a:r>
          </a:p>
          <a:p>
            <a:pPr marL="577850" indent="-577850"/>
            <a:r>
              <a:rPr lang="en-US" altLang="en-US" sz="2800">
                <a:solidFill>
                  <a:schemeClr val="bg1"/>
                </a:solidFill>
              </a:rPr>
              <a:t>These Christians had been separated from the world because of Christ’ sacrifice.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1BB00EB6-A52A-4687-800C-C64F273B5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7" name="Rectangle 7">
            <a:extLst>
              <a:ext uri="{FF2B5EF4-FFF2-40B4-BE49-F238E27FC236}">
                <a16:creationId xmlns:a16="http://schemas.microsoft.com/office/drawing/2014/main" id="{9B81D5DE-3E0C-4C73-9516-E5F23030E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>
                <a:solidFill>
                  <a:schemeClr val="bg1"/>
                </a:solidFill>
              </a:rPr>
              <a:t>Christian Calling v.1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94043253-62B9-4649-997B-D9CC18B6BBF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77850" indent="-577850"/>
            <a:r>
              <a:rPr lang="en-US" altLang="en-US" sz="2800">
                <a:solidFill>
                  <a:schemeClr val="bg1"/>
                </a:solidFill>
              </a:rPr>
              <a:t>“heavenly calling”</a:t>
            </a:r>
          </a:p>
          <a:p>
            <a:pPr marL="577850" indent="-577850"/>
            <a:r>
              <a:rPr lang="en-US" altLang="en-US" sz="2800">
                <a:solidFill>
                  <a:schemeClr val="bg1"/>
                </a:solidFill>
              </a:rPr>
              <a:t>This is an invitation to everyone.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C793D5CD-AA79-44AF-B8EC-18849D869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9" name="Rectangle 5">
            <a:extLst>
              <a:ext uri="{FF2B5EF4-FFF2-40B4-BE49-F238E27FC236}">
                <a16:creationId xmlns:a16="http://schemas.microsoft.com/office/drawing/2014/main" id="{1B83AEEA-DF3E-49FF-867B-1CD27F4AF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Christian Calling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5C354993-3E33-48F4-9A6B-150548EF92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4953000"/>
          </a:xfrm>
          <a:solidFill>
            <a:schemeClr val="accent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300"/>
              <a:t>I. Called from labor to rest (Matt. 11:28)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II. Called from death to life (1 John 3:14)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III. Called from bondage to liberty (Gal 5:13)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IV. Called out of darkness into light (1 Pet. 2:9)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V. Called from bondage to peace (1 Cor. 7:15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VI. Called to the fellowship of His Son (1 Cor. 1:9)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3FF2B4A0-D118-439A-A099-91B0169CB02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4038600" cy="4953000"/>
          </a:xfrm>
          <a:solidFill>
            <a:schemeClr val="accent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300"/>
              <a:t>I. We are made sons of God (John 1:12)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II. We are made the children of God (Gal. 3:26)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III. We are made the servants of God (Matt. 25:21)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IV. We are made God’s saints (Col. 1:1)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V. We are made God’s witnesses (I Thess. 2:10)</a:t>
            </a:r>
          </a:p>
          <a:p>
            <a:pPr>
              <a:lnSpc>
                <a:spcPct val="90000"/>
              </a:lnSpc>
            </a:pPr>
            <a:r>
              <a:rPr lang="en-US" altLang="en-US" sz="2300"/>
              <a:t>VI. We are made workers together with God (2 Cor. 6:1)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3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uiExpand="1" build="p" animBg="1"/>
      <p:bldP spid="16391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8A9E586B-FC92-462C-A6E3-07B1D1D3A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ectangle 3">
            <a:extLst>
              <a:ext uri="{FF2B5EF4-FFF2-40B4-BE49-F238E27FC236}">
                <a16:creationId xmlns:a16="http://schemas.microsoft.com/office/drawing/2014/main" id="{6C6F959A-C5B8-48CE-8400-28B58B445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Christian Example v.1b-2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FA062EA-3EA5-464E-ACC3-B29F89C61C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>
                <a:solidFill>
                  <a:schemeClr val="bg1"/>
                </a:solidFill>
              </a:rPr>
              <a:t>“our profession”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“apostle and high priest”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“faithful”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13300B3E-2331-49D3-B5E7-A06D9BD2E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1" name="Text Box 3">
            <a:extLst>
              <a:ext uri="{FF2B5EF4-FFF2-40B4-BE49-F238E27FC236}">
                <a16:creationId xmlns:a16="http://schemas.microsoft.com/office/drawing/2014/main" id="{8724BCD6-5393-40A4-A3C8-4E2379F81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15000"/>
            <a:ext cx="8382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 b="1">
                <a:solidFill>
                  <a:schemeClr val="bg1"/>
                </a:solidFill>
              </a:rPr>
              <a:t>Christ Position Is Superior to Moses’s v. 3-6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E5B8DE5C-5F81-4E2D-A489-09D33715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">
            <a:extLst>
              <a:ext uri="{FF2B5EF4-FFF2-40B4-BE49-F238E27FC236}">
                <a16:creationId xmlns:a16="http://schemas.microsoft.com/office/drawing/2014/main" id="{23B79B32-1EDB-4121-94B1-CB0958573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solidFill>
                  <a:schemeClr val="bg1"/>
                </a:solidFill>
              </a:rPr>
              <a:t>Jesus built the house and Moses only lived in it.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CEBA08A-A665-460F-B664-0CB9A0B23A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>
                <a:solidFill>
                  <a:schemeClr val="bg1"/>
                </a:solidFill>
              </a:rPr>
              <a:t>“worthy of more glory than Moses”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“he that built all things is God”</a:t>
            </a:r>
          </a:p>
          <a:p>
            <a:pPr>
              <a:buFontTx/>
              <a:buNone/>
            </a:pPr>
            <a:endParaRPr lang="en-US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D7778239-8551-4A6A-9A55-86B704072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9" name="Rectangle 3">
            <a:extLst>
              <a:ext uri="{FF2B5EF4-FFF2-40B4-BE49-F238E27FC236}">
                <a16:creationId xmlns:a16="http://schemas.microsoft.com/office/drawing/2014/main" id="{EB6B2231-70A1-4620-90D5-3C3000515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solidFill>
                  <a:schemeClr val="bg1"/>
                </a:solidFill>
              </a:rPr>
              <a:t>Jesus is the son of the house and Moses is only a servant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68006AE-065F-40D3-9B20-1206779D16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>
                <a:solidFill>
                  <a:schemeClr val="bg1"/>
                </a:solidFill>
              </a:rPr>
              <a:t>Moses was faithful in his house.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Christ is faithful over his house.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Both are faithful but Christ is better because of his position in his own house.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C613C3B4-1568-4D1B-B681-2353EA808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3" name="Text Box 3">
            <a:extLst>
              <a:ext uri="{FF2B5EF4-FFF2-40B4-BE49-F238E27FC236}">
                <a16:creationId xmlns:a16="http://schemas.microsoft.com/office/drawing/2014/main" id="{7C8E731F-FF97-4ADA-AFD5-A529DD4D6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15000"/>
            <a:ext cx="8382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 b="1">
                <a:solidFill>
                  <a:schemeClr val="bg1"/>
                </a:solidFill>
              </a:rPr>
              <a:t>A Warning to the House of God v. 7-19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999FBE42-75E5-4154-963F-7B37E317A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Rectangle 3">
            <a:extLst>
              <a:ext uri="{FF2B5EF4-FFF2-40B4-BE49-F238E27FC236}">
                <a16:creationId xmlns:a16="http://schemas.microsoft.com/office/drawing/2014/main" id="{F454AA3C-3282-4314-9BF8-AA60E3E55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The Unbelief of Israel v. 7-15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07A58B48-ED8E-4636-9C3D-A7AB80B843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altLang="en-US" sz="2800">
                <a:solidFill>
                  <a:schemeClr val="bg1"/>
                </a:solidFill>
              </a:rPr>
              <a:t>Wonders of God v.9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Wrath of God v.11</a:t>
            </a:r>
          </a:p>
          <a:p>
            <a:r>
              <a:rPr lang="en-US" altLang="en-US" sz="2800">
                <a:solidFill>
                  <a:schemeClr val="bg1"/>
                </a:solidFill>
              </a:rPr>
              <a:t>Winners in God v. 14-15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17A1134A-F8BB-4468-8301-9BB08936E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7" name="Rectangle 3">
            <a:extLst>
              <a:ext uri="{FF2B5EF4-FFF2-40B4-BE49-F238E27FC236}">
                <a16:creationId xmlns:a16="http://schemas.microsoft.com/office/drawing/2014/main" id="{F0226FA3-8335-4278-A46D-9EF997660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The Penalty of Israel v. 16-19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C7FD029E-370C-4FD0-8E55-7351BFF01F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altLang="en-US" sz="2800">
                <a:solidFill>
                  <a:schemeClr val="bg1"/>
                </a:solidFill>
              </a:rPr>
              <a:t>They did not enter.</a:t>
            </a:r>
          </a:p>
          <a:p>
            <a:pPr lvl="1"/>
            <a:r>
              <a:rPr lang="en-US" altLang="en-US" sz="2400">
                <a:solidFill>
                  <a:schemeClr val="bg1"/>
                </a:solidFill>
              </a:rPr>
              <a:t>Because of their unbelief.</a:t>
            </a:r>
          </a:p>
          <a:p>
            <a:pPr>
              <a:buFontTx/>
              <a:buNone/>
            </a:pPr>
            <a:endParaRPr lang="en-US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E47FDB3-D467-4979-B0E5-005CCF699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F05D22EC-F980-44FA-8499-CB6F6752C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172200" cy="1143000"/>
          </a:xfrm>
        </p:spPr>
        <p:txBody>
          <a:bodyPr/>
          <a:lstStyle/>
          <a:p>
            <a:r>
              <a:rPr lang="en-US" altLang="en-US" sz="4000"/>
              <a:t>Christ is better than Moses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9273669-6F1A-4EE5-B8EA-A76526B42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867400" cy="4525963"/>
          </a:xfrm>
        </p:spPr>
        <p:txBody>
          <a:bodyPr/>
          <a:lstStyle/>
          <a:p>
            <a:r>
              <a:rPr lang="en-US" altLang="en-US" b="1"/>
              <a:t>Christ faith is Superior</a:t>
            </a:r>
          </a:p>
          <a:p>
            <a:r>
              <a:rPr lang="en-US" altLang="en-US" b="1"/>
              <a:t>Christ Position is Superior</a:t>
            </a:r>
          </a:p>
          <a:p>
            <a:r>
              <a:rPr lang="en-US" altLang="en-US" b="1"/>
              <a:t>Christ House is Superior</a:t>
            </a:r>
          </a:p>
          <a:p>
            <a:r>
              <a:rPr lang="en-US" altLang="en-US" b="1"/>
              <a:t>The House of God is encouraged to reach for greater faith.</a:t>
            </a:r>
          </a:p>
          <a:p>
            <a:pPr lvl="1"/>
            <a:r>
              <a:rPr lang="en-US" altLang="en-US" b="1"/>
              <a:t>Remember your confession</a:t>
            </a:r>
          </a:p>
          <a:p>
            <a:pPr lvl="1"/>
            <a:r>
              <a:rPr lang="en-US" altLang="en-US" b="1"/>
              <a:t>Beware of unbelief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ESS">
  <a:themeElements>
    <a:clrScheme name="PROFESS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6600FF"/>
      </a:accent1>
      <a:accent2>
        <a:srgbClr val="CC00FF"/>
      </a:accent2>
      <a:accent3>
        <a:srgbClr val="FFFFFF"/>
      </a:accent3>
      <a:accent4>
        <a:srgbClr val="000000"/>
      </a:accent4>
      <a:accent5>
        <a:srgbClr val="B8AAFF"/>
      </a:accent5>
      <a:accent6>
        <a:srgbClr val="B900E7"/>
      </a:accent6>
      <a:hlink>
        <a:srgbClr val="00CC99"/>
      </a:hlink>
      <a:folHlink>
        <a:srgbClr val="0099CC"/>
      </a:folHlink>
    </a:clrScheme>
    <a:fontScheme name="PROFESS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ESS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8A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ESS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FF99CC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ESS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ESS 4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319</Words>
  <Application>Microsoft Office PowerPoint</Application>
  <PresentationFormat>On-screen Show (4:3)</PresentationFormat>
  <Paragraphs>47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Default Design</vt:lpstr>
      <vt:lpstr>PROFESS</vt:lpstr>
      <vt:lpstr>PowerPoint Presentation</vt:lpstr>
      <vt:lpstr>PowerPoint Presentation</vt:lpstr>
      <vt:lpstr>Christian Brotherhood v. 1</vt:lpstr>
      <vt:lpstr>Christian Calling v.1</vt:lpstr>
      <vt:lpstr>Christian Calling</vt:lpstr>
      <vt:lpstr>Christian Example v.1b-2</vt:lpstr>
      <vt:lpstr>PowerPoint Presentation</vt:lpstr>
      <vt:lpstr>Jesus built the house and Moses only lived in it.</vt:lpstr>
      <vt:lpstr>Jesus is the son of the house and Moses is only a servant</vt:lpstr>
      <vt:lpstr>PowerPoint Presentation</vt:lpstr>
      <vt:lpstr>The Unbelief of Israel v. 7-15</vt:lpstr>
      <vt:lpstr>The Penalty of Israel v. 16-19</vt:lpstr>
      <vt:lpstr>Christ is better than Moses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Joshua Hetrick</dc:creator>
  <cp:lastModifiedBy>Joshua Hetrick</cp:lastModifiedBy>
  <cp:revision>5</cp:revision>
  <dcterms:created xsi:type="dcterms:W3CDTF">2008-03-06T19:48:02Z</dcterms:created>
  <dcterms:modified xsi:type="dcterms:W3CDTF">2021-07-24T17:05:05Z</dcterms:modified>
</cp:coreProperties>
</file>