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12"/>
  </p:notesMasterIdLst>
  <p:sldIdLst>
    <p:sldId id="256" r:id="rId2"/>
    <p:sldId id="257" r:id="rId3"/>
    <p:sldId id="258" r:id="rId4"/>
    <p:sldId id="259" r:id="rId5"/>
    <p:sldId id="262" r:id="rId6"/>
    <p:sldId id="260" r:id="rId7"/>
    <p:sldId id="261"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DA6220-F989-4414-A6B6-44D6035241AC}" v="1" dt="2021-07-23T20:16:21.3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108" d="100"/>
          <a:sy n="108" d="100"/>
        </p:scale>
        <p:origin x="7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Hetrick" userId="a490822bb2ad6010" providerId="LiveId" clId="{5C3B87E0-F700-4132-936A-19DDF36886D4}"/>
    <pc:docChg chg="custSel addSld delSld modSld">
      <pc:chgData name="josh Hetrick" userId="a490822bb2ad6010" providerId="LiveId" clId="{5C3B87E0-F700-4132-936A-19DDF36886D4}" dt="2021-07-17T23:43:29.741" v="17" actId="255"/>
      <pc:docMkLst>
        <pc:docMk/>
      </pc:docMkLst>
      <pc:sldChg chg="del">
        <pc:chgData name="josh Hetrick" userId="a490822bb2ad6010" providerId="LiveId" clId="{5C3B87E0-F700-4132-936A-19DDF36886D4}" dt="2021-07-17T23:41:14.649" v="0" actId="2696"/>
        <pc:sldMkLst>
          <pc:docMk/>
          <pc:sldMk cId="4002689503" sldId="263"/>
        </pc:sldMkLst>
      </pc:sldChg>
      <pc:sldChg chg="addSp delSp modSp mod">
        <pc:chgData name="josh Hetrick" userId="a490822bb2ad6010" providerId="LiveId" clId="{5C3B87E0-F700-4132-936A-19DDF36886D4}" dt="2021-07-17T23:43:29.741" v="17" actId="255"/>
        <pc:sldMkLst>
          <pc:docMk/>
          <pc:sldMk cId="2904228376" sldId="264"/>
        </pc:sldMkLst>
        <pc:spChg chg="mod">
          <ac:chgData name="josh Hetrick" userId="a490822bb2ad6010" providerId="LiveId" clId="{5C3B87E0-F700-4132-936A-19DDF36886D4}" dt="2021-07-17T23:43:22.723" v="16" actId="26606"/>
          <ac:spMkLst>
            <pc:docMk/>
            <pc:sldMk cId="2904228376" sldId="264"/>
            <ac:spMk id="2" creationId="{AC7CA949-C1D4-421D-89AA-2A0B28F10A12}"/>
          </ac:spMkLst>
        </pc:spChg>
        <pc:spChg chg="mod">
          <ac:chgData name="josh Hetrick" userId="a490822bb2ad6010" providerId="LiveId" clId="{5C3B87E0-F700-4132-936A-19DDF36886D4}" dt="2021-07-17T23:43:29.741" v="17" actId="255"/>
          <ac:spMkLst>
            <pc:docMk/>
            <pc:sldMk cId="2904228376" sldId="264"/>
            <ac:spMk id="3" creationId="{85078900-73E2-4BE3-91E8-09A67B72C45F}"/>
          </ac:spMkLst>
        </pc:spChg>
        <pc:spChg chg="del">
          <ac:chgData name="josh Hetrick" userId="a490822bb2ad6010" providerId="LiveId" clId="{5C3B87E0-F700-4132-936A-19DDF36886D4}" dt="2021-07-17T23:43:22.723" v="16" actId="26606"/>
          <ac:spMkLst>
            <pc:docMk/>
            <pc:sldMk cId="2904228376" sldId="264"/>
            <ac:spMk id="8" creationId="{100EDD19-6802-4EC3-95CE-CFFAB042CFD6}"/>
          </ac:spMkLst>
        </pc:spChg>
        <pc:spChg chg="del">
          <ac:chgData name="josh Hetrick" userId="a490822bb2ad6010" providerId="LiveId" clId="{5C3B87E0-F700-4132-936A-19DDF36886D4}" dt="2021-07-17T23:43:22.723" v="16" actId="26606"/>
          <ac:spMkLst>
            <pc:docMk/>
            <pc:sldMk cId="2904228376" sldId="264"/>
            <ac:spMk id="10" creationId="{DB17E863-922E-4C26-BD64-E8FD41D28661}"/>
          </ac:spMkLst>
        </pc:spChg>
        <pc:spChg chg="add">
          <ac:chgData name="josh Hetrick" userId="a490822bb2ad6010" providerId="LiveId" clId="{5C3B87E0-F700-4132-936A-19DDF36886D4}" dt="2021-07-17T23:43:22.723" v="16" actId="26606"/>
          <ac:spMkLst>
            <pc:docMk/>
            <pc:sldMk cId="2904228376" sldId="264"/>
            <ac:spMk id="15" creationId="{7C32DF3D-3F59-481D-A237-77C31AD492C1}"/>
          </ac:spMkLst>
        </pc:spChg>
        <pc:spChg chg="add">
          <ac:chgData name="josh Hetrick" userId="a490822bb2ad6010" providerId="LiveId" clId="{5C3B87E0-F700-4132-936A-19DDF36886D4}" dt="2021-07-17T23:43:22.723" v="16" actId="26606"/>
          <ac:spMkLst>
            <pc:docMk/>
            <pc:sldMk cId="2904228376" sldId="264"/>
            <ac:spMk id="17" creationId="{32F02326-30C4-4095-988F-932A425AE2DA}"/>
          </ac:spMkLst>
        </pc:spChg>
      </pc:sldChg>
      <pc:sldChg chg="modSp add mod">
        <pc:chgData name="josh Hetrick" userId="a490822bb2ad6010" providerId="LiveId" clId="{5C3B87E0-F700-4132-936A-19DDF36886D4}" dt="2021-07-17T23:43:02.170" v="15" actId="5793"/>
        <pc:sldMkLst>
          <pc:docMk/>
          <pc:sldMk cId="1200763479" sldId="265"/>
        </pc:sldMkLst>
        <pc:spChg chg="mod">
          <ac:chgData name="josh Hetrick" userId="a490822bb2ad6010" providerId="LiveId" clId="{5C3B87E0-F700-4132-936A-19DDF36886D4}" dt="2021-07-17T23:43:02.170" v="15" actId="5793"/>
          <ac:spMkLst>
            <pc:docMk/>
            <pc:sldMk cId="1200763479" sldId="265"/>
            <ac:spMk id="3" creationId="{85078900-73E2-4BE3-91E8-09A67B72C45F}"/>
          </ac:spMkLst>
        </pc:spChg>
      </pc:sldChg>
      <pc:sldChg chg="modSp add mod">
        <pc:chgData name="josh Hetrick" userId="a490822bb2ad6010" providerId="LiveId" clId="{5C3B87E0-F700-4132-936A-19DDF36886D4}" dt="2021-07-17T23:42:06.303" v="8" actId="6549"/>
        <pc:sldMkLst>
          <pc:docMk/>
          <pc:sldMk cId="2516794029" sldId="266"/>
        </pc:sldMkLst>
        <pc:spChg chg="mod">
          <ac:chgData name="josh Hetrick" userId="a490822bb2ad6010" providerId="LiveId" clId="{5C3B87E0-F700-4132-936A-19DDF36886D4}" dt="2021-07-17T23:42:06.303" v="8" actId="6549"/>
          <ac:spMkLst>
            <pc:docMk/>
            <pc:sldMk cId="2516794029" sldId="266"/>
            <ac:spMk id="3" creationId="{85078900-73E2-4BE3-91E8-09A67B72C45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50F3FD-DF43-49F6-8DC5-153205EF5C31}" type="datetimeFigureOut">
              <a:rPr lang="en-US" smtClean="0"/>
              <a:t>7/23/2021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6BB2F9-5251-462A-916C-F07B445BFD71}" type="slidenum">
              <a:rPr lang="en-US" smtClean="0"/>
              <a:t>‹#›</a:t>
            </a:fld>
            <a:endParaRPr lang="en-US"/>
          </a:p>
        </p:txBody>
      </p:sp>
    </p:spTree>
    <p:extLst>
      <p:ext uri="{BB962C8B-B14F-4D97-AF65-F5344CB8AC3E}">
        <p14:creationId xmlns:p14="http://schemas.microsoft.com/office/powerpoint/2010/main" val="1666938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sng" kern="1200" dirty="0">
                <a:solidFill>
                  <a:schemeClr val="tx1"/>
                </a:solidFill>
                <a:effectLst/>
                <a:latin typeface="+mn-lt"/>
                <a:ea typeface="+mn-ea"/>
                <a:cs typeface="+mn-cs"/>
              </a:rPr>
              <a:t>7 FIGURES OF THE WORD OF GOD</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JEREMIAH 23:29</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u="sng"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a:t>
            </a:r>
          </a:p>
          <a:p>
            <a:r>
              <a:rPr lang="en-US" sz="1200" b="1" u="sng" kern="1200" dirty="0">
                <a:solidFill>
                  <a:schemeClr val="tx1"/>
                </a:solidFill>
                <a:effectLst/>
                <a:latin typeface="+mn-lt"/>
                <a:ea typeface="+mn-ea"/>
                <a:cs typeface="+mn-cs"/>
              </a:rPr>
              <a:t>BODY</a:t>
            </a:r>
            <a:r>
              <a:rPr lang="en-US" sz="1200" kern="1200" dirty="0">
                <a:solidFill>
                  <a:schemeClr val="tx1"/>
                </a:solidFill>
                <a:effectLst/>
                <a:latin typeface="+mn-lt"/>
                <a:ea typeface="+mn-ea"/>
                <a:cs typeface="+mn-cs"/>
              </a:rPr>
              <a:t>:</a:t>
            </a:r>
          </a:p>
          <a:p>
            <a:pPr lvl="0"/>
            <a:r>
              <a:rPr lang="en-US" sz="1200" b="1" u="sng" kern="1200" dirty="0">
                <a:solidFill>
                  <a:schemeClr val="tx1"/>
                </a:solidFill>
                <a:effectLst/>
                <a:latin typeface="+mn-lt"/>
                <a:ea typeface="+mn-ea"/>
                <a:cs typeface="+mn-cs"/>
              </a:rPr>
              <a:t>A FIRE TO MELT (JER. 23:29)</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Is not my word like as a fire? saith the LORD; and like a hammer that </a:t>
            </a:r>
            <a:r>
              <a:rPr lang="en-US" sz="1200" i="1" kern="1200" dirty="0" err="1">
                <a:solidFill>
                  <a:schemeClr val="tx1"/>
                </a:solidFill>
                <a:effectLst/>
                <a:latin typeface="+mn-lt"/>
                <a:ea typeface="+mn-ea"/>
                <a:cs typeface="+mn-cs"/>
              </a:rPr>
              <a:t>breaketh</a:t>
            </a:r>
            <a:r>
              <a:rPr lang="en-US" sz="1200" i="1" kern="1200" dirty="0">
                <a:solidFill>
                  <a:schemeClr val="tx1"/>
                </a:solidFill>
                <a:effectLst/>
                <a:latin typeface="+mn-lt"/>
                <a:ea typeface="+mn-ea"/>
                <a:cs typeface="+mn-cs"/>
              </a:rPr>
              <a:t> the rock in pieces? (</a:t>
            </a:r>
            <a:r>
              <a:rPr lang="en-US" sz="1200" i="1" kern="1200" dirty="0" err="1">
                <a:solidFill>
                  <a:schemeClr val="tx1"/>
                </a:solidFill>
                <a:effectLst/>
                <a:latin typeface="+mn-lt"/>
                <a:ea typeface="+mn-ea"/>
                <a:cs typeface="+mn-cs"/>
              </a:rPr>
              <a:t>Jer</a:t>
            </a:r>
            <a:r>
              <a:rPr lang="en-US" sz="1200" i="1" kern="1200" dirty="0">
                <a:solidFill>
                  <a:schemeClr val="tx1"/>
                </a:solidFill>
                <a:effectLst/>
                <a:latin typeface="+mn-lt"/>
                <a:ea typeface="+mn-ea"/>
                <a:cs typeface="+mn-cs"/>
              </a:rPr>
              <a:t> 23:29 KJV)</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To melt false doctrine.</a:t>
            </a:r>
          </a:p>
          <a:p>
            <a:pPr lvl="2"/>
            <a:r>
              <a:rPr lang="en-US" sz="1200" kern="1200" dirty="0">
                <a:solidFill>
                  <a:schemeClr val="tx1"/>
                </a:solidFill>
                <a:effectLst/>
                <a:latin typeface="+mn-lt"/>
                <a:ea typeface="+mn-ea"/>
                <a:cs typeface="+mn-cs"/>
              </a:rPr>
              <a:t>  The wicked will perish.</a:t>
            </a:r>
          </a:p>
          <a:p>
            <a:r>
              <a:rPr lang="en-US" sz="1200" i="1" kern="1200" dirty="0">
                <a:solidFill>
                  <a:schemeClr val="tx1"/>
                </a:solidFill>
                <a:effectLst/>
                <a:latin typeface="+mn-lt"/>
                <a:ea typeface="+mn-ea"/>
                <a:cs typeface="+mn-cs"/>
              </a:rPr>
              <a:t>As smoke is driven away, so drive them away: as wax </a:t>
            </a:r>
            <a:r>
              <a:rPr lang="en-US" sz="1200" i="1" kern="1200" dirty="0" err="1">
                <a:solidFill>
                  <a:schemeClr val="tx1"/>
                </a:solidFill>
                <a:effectLst/>
                <a:latin typeface="+mn-lt"/>
                <a:ea typeface="+mn-ea"/>
                <a:cs typeface="+mn-cs"/>
              </a:rPr>
              <a:t>melteth</a:t>
            </a:r>
            <a:r>
              <a:rPr lang="en-US" sz="1200" i="1" kern="1200" dirty="0">
                <a:solidFill>
                  <a:schemeClr val="tx1"/>
                </a:solidFill>
                <a:effectLst/>
                <a:latin typeface="+mn-lt"/>
                <a:ea typeface="+mn-ea"/>
                <a:cs typeface="+mn-cs"/>
              </a:rPr>
              <a:t> before the fire, so let the wicked perish at the presence of God.  (</a:t>
            </a:r>
            <a:r>
              <a:rPr lang="en-US" sz="1200" i="1" kern="1200" dirty="0" err="1">
                <a:solidFill>
                  <a:schemeClr val="tx1"/>
                </a:solidFill>
                <a:effectLst/>
                <a:latin typeface="+mn-lt"/>
                <a:ea typeface="+mn-ea"/>
                <a:cs typeface="+mn-cs"/>
              </a:rPr>
              <a:t>Psa</a:t>
            </a:r>
            <a:r>
              <a:rPr lang="en-US" sz="1200" i="1" kern="1200" dirty="0">
                <a:solidFill>
                  <a:schemeClr val="tx1"/>
                </a:solidFill>
                <a:effectLst/>
                <a:latin typeface="+mn-lt"/>
                <a:ea typeface="+mn-ea"/>
                <a:cs typeface="+mn-cs"/>
              </a:rPr>
              <a:t> 68:2 KJV)</a:t>
            </a:r>
            <a:endParaRPr lang="en-US" sz="1200" kern="1200" dirty="0">
              <a:solidFill>
                <a:schemeClr val="tx1"/>
              </a:solidFill>
              <a:effectLst/>
              <a:latin typeface="+mn-lt"/>
              <a:ea typeface="+mn-ea"/>
              <a:cs typeface="+mn-cs"/>
            </a:endParaRPr>
          </a:p>
          <a:p>
            <a:pPr lvl="2"/>
            <a:r>
              <a:rPr lang="en-US" sz="1200" kern="1200" dirty="0">
                <a:solidFill>
                  <a:schemeClr val="tx1"/>
                </a:solidFill>
                <a:effectLst/>
                <a:latin typeface="+mn-lt"/>
                <a:ea typeface="+mn-ea"/>
                <a:cs typeface="+mn-cs"/>
              </a:rPr>
              <a:t>  Illustration: </a:t>
            </a: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A custom of the natives in New Guinea is told. At certain times they have rituals, songs, and dances. They work themselves up into a frenzy and the ritual culminates in what are called “the murder songs,” in which they shout before God the names of the people they wish to kill. When the natives became Christian, they retained these customs and that ritual, However, in the murder songs, they no longer shouted the names of the people they hated, but the names of the sins they hated, and called on God to destroy them. A pagan custom had been captured for Christ. (Source Unknown)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Casting down imaginations, and every high thing that </a:t>
            </a:r>
            <a:r>
              <a:rPr lang="en-US" sz="1200" i="1" kern="1200" dirty="0" err="1">
                <a:solidFill>
                  <a:schemeClr val="tx1"/>
                </a:solidFill>
                <a:effectLst/>
                <a:latin typeface="+mn-lt"/>
                <a:ea typeface="+mn-ea"/>
                <a:cs typeface="+mn-cs"/>
              </a:rPr>
              <a:t>exalteth</a:t>
            </a:r>
            <a:r>
              <a:rPr lang="en-US" sz="1200" i="1" kern="1200" dirty="0">
                <a:solidFill>
                  <a:schemeClr val="tx1"/>
                </a:solidFill>
                <a:effectLst/>
                <a:latin typeface="+mn-lt"/>
                <a:ea typeface="+mn-ea"/>
                <a:cs typeface="+mn-cs"/>
              </a:rPr>
              <a:t> itself against the knowledge of God and bringing into captivity every thought to the obedience of Christ; And having in a readiness to revenge all disobedience, when your obedience is fulfilled.  (2Co 10:5-6 KJV)</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lvl="1"/>
            <a:r>
              <a:rPr lang="en-US" sz="1200" kern="1200" dirty="0">
                <a:solidFill>
                  <a:schemeClr val="tx1"/>
                </a:solidFill>
                <a:effectLst/>
                <a:latin typeface="+mn-lt"/>
                <a:ea typeface="+mn-ea"/>
                <a:cs typeface="+mn-cs"/>
              </a:rPr>
              <a:t>To melt character.</a:t>
            </a:r>
          </a:p>
          <a:p>
            <a:pPr lvl="2"/>
            <a:r>
              <a:rPr lang="en-US" sz="1200" kern="1200" dirty="0">
                <a:solidFill>
                  <a:schemeClr val="tx1"/>
                </a:solidFill>
                <a:effectLst/>
                <a:latin typeface="+mn-lt"/>
                <a:ea typeface="+mn-ea"/>
                <a:cs typeface="+mn-cs"/>
              </a:rPr>
              <a:t>  God is a wall of fire to the saint. </a:t>
            </a:r>
          </a:p>
          <a:p>
            <a:r>
              <a:rPr lang="en-US" sz="1200" i="1" kern="1200" dirty="0">
                <a:solidFill>
                  <a:schemeClr val="tx1"/>
                </a:solidFill>
                <a:effectLst/>
                <a:latin typeface="+mn-lt"/>
                <a:ea typeface="+mn-ea"/>
                <a:cs typeface="+mn-cs"/>
              </a:rPr>
              <a:t>For I, saith the LORD, will be unto her a wall of fire round about, and will be the glory in the midst of her. (</a:t>
            </a:r>
            <a:r>
              <a:rPr lang="en-US" sz="1200" i="1" kern="1200" dirty="0" err="1">
                <a:solidFill>
                  <a:schemeClr val="tx1"/>
                </a:solidFill>
                <a:effectLst/>
                <a:latin typeface="+mn-lt"/>
                <a:ea typeface="+mn-ea"/>
                <a:cs typeface="+mn-cs"/>
              </a:rPr>
              <a:t>Zec</a:t>
            </a:r>
            <a:r>
              <a:rPr lang="en-US" sz="1200" i="1" kern="1200" dirty="0">
                <a:solidFill>
                  <a:schemeClr val="tx1"/>
                </a:solidFill>
                <a:effectLst/>
                <a:latin typeface="+mn-lt"/>
                <a:ea typeface="+mn-ea"/>
                <a:cs typeface="+mn-cs"/>
              </a:rPr>
              <a:t> 2:5 KJV)</a:t>
            </a:r>
            <a:endParaRPr lang="en-US" sz="1200" kern="1200" dirty="0">
              <a:solidFill>
                <a:schemeClr val="tx1"/>
              </a:solidFill>
              <a:effectLst/>
              <a:latin typeface="+mn-lt"/>
              <a:ea typeface="+mn-ea"/>
              <a:cs typeface="+mn-cs"/>
            </a:endParaRPr>
          </a:p>
          <a:p>
            <a:pPr lvl="2"/>
            <a:r>
              <a:rPr lang="en-US" sz="1200" kern="1200" dirty="0">
                <a:solidFill>
                  <a:schemeClr val="tx1"/>
                </a:solidFill>
                <a:effectLst/>
                <a:latin typeface="+mn-lt"/>
                <a:ea typeface="+mn-ea"/>
                <a:cs typeface="+mn-cs"/>
              </a:rPr>
              <a:t> He is a pillar of fire by night to lead his children.</a:t>
            </a:r>
          </a:p>
          <a:p>
            <a:r>
              <a:rPr lang="en-US" sz="1200" i="1" kern="1200" dirty="0">
                <a:solidFill>
                  <a:schemeClr val="tx1"/>
                </a:solidFill>
                <a:effectLst/>
                <a:latin typeface="+mn-lt"/>
                <a:ea typeface="+mn-ea"/>
                <a:cs typeface="+mn-cs"/>
              </a:rPr>
              <a:t>And the LORD went before them by day in a pillar of a cloud, to lead them the way; and by night in a pillar of fire, to give them light; to go by day and night: (Exo 13:21 KJV)</a:t>
            </a:r>
            <a:endParaRPr lang="en-US" sz="1200" kern="1200" dirty="0">
              <a:solidFill>
                <a:schemeClr val="tx1"/>
              </a:solidFill>
              <a:effectLst/>
              <a:latin typeface="+mn-lt"/>
              <a:ea typeface="+mn-ea"/>
              <a:cs typeface="+mn-cs"/>
            </a:endParaRPr>
          </a:p>
          <a:p>
            <a:pPr lvl="2"/>
            <a:r>
              <a:rPr lang="en-US" sz="1200" kern="1200" dirty="0">
                <a:solidFill>
                  <a:schemeClr val="tx1"/>
                </a:solidFill>
                <a:effectLst/>
                <a:latin typeface="+mn-lt"/>
                <a:ea typeface="+mn-ea"/>
                <a:cs typeface="+mn-cs"/>
              </a:rPr>
              <a:t> He is the great refiner.</a:t>
            </a:r>
          </a:p>
          <a:p>
            <a:r>
              <a:rPr lang="en-US" sz="1200" i="1" kern="1200" dirty="0">
                <a:solidFill>
                  <a:schemeClr val="tx1"/>
                </a:solidFill>
                <a:effectLst/>
                <a:latin typeface="+mn-lt"/>
                <a:ea typeface="+mn-ea"/>
                <a:cs typeface="+mn-cs"/>
              </a:rPr>
              <a:t>And I will bring the third part through the fire, and will refine them as silver is refined, and will try them as gold is tried: they shall call on my name, and I will hear them: I will say, It is my people: and they shall say, The LORD is my God. (</a:t>
            </a:r>
            <a:r>
              <a:rPr lang="en-US" sz="1200" i="1" kern="1200" dirty="0" err="1">
                <a:solidFill>
                  <a:schemeClr val="tx1"/>
                </a:solidFill>
                <a:effectLst/>
                <a:latin typeface="+mn-lt"/>
                <a:ea typeface="+mn-ea"/>
                <a:cs typeface="+mn-cs"/>
              </a:rPr>
              <a:t>Zec</a:t>
            </a:r>
            <a:r>
              <a:rPr lang="en-US" sz="1200" i="1" kern="1200" dirty="0">
                <a:solidFill>
                  <a:schemeClr val="tx1"/>
                </a:solidFill>
                <a:effectLst/>
                <a:latin typeface="+mn-lt"/>
                <a:ea typeface="+mn-ea"/>
                <a:cs typeface="+mn-cs"/>
              </a:rPr>
              <a:t> 13:9 KJV)</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To melt hearts.</a:t>
            </a:r>
          </a:p>
          <a:p>
            <a:pPr lvl="2"/>
            <a:r>
              <a:rPr lang="en-US" sz="1200" kern="1200" dirty="0">
                <a:solidFill>
                  <a:schemeClr val="tx1"/>
                </a:solidFill>
                <a:effectLst/>
                <a:latin typeface="+mn-lt"/>
                <a:ea typeface="+mn-ea"/>
                <a:cs typeface="+mn-cs"/>
              </a:rPr>
              <a:t>  Fire is needed to make our sacrifices pure.</a:t>
            </a:r>
          </a:p>
          <a:p>
            <a:r>
              <a:rPr lang="en-US" sz="1200" i="1" kern="1200" dirty="0">
                <a:solidFill>
                  <a:schemeClr val="tx1"/>
                </a:solidFill>
                <a:effectLst/>
                <a:latin typeface="+mn-lt"/>
                <a:ea typeface="+mn-ea"/>
                <a:cs typeface="+mn-cs"/>
              </a:rPr>
              <a:t>Command Aaron and his sons, saying, this is the law of the burnt offering: It is the burnt offering, because of the burning upon the altar all night unto the morning, and the fire of the altar shall be burning in it.  (Lev 6:9 KJV)</a:t>
            </a:r>
            <a:endParaRPr lang="en-US" sz="1200" kern="1200" dirty="0">
              <a:solidFill>
                <a:schemeClr val="tx1"/>
              </a:solidFill>
              <a:effectLst/>
              <a:latin typeface="+mn-lt"/>
              <a:ea typeface="+mn-ea"/>
              <a:cs typeface="+mn-cs"/>
            </a:endParaRPr>
          </a:p>
          <a:p>
            <a:pPr lvl="2"/>
            <a:r>
              <a:rPr lang="en-US" sz="1200" kern="1200" dirty="0">
                <a:solidFill>
                  <a:schemeClr val="tx1"/>
                </a:solidFill>
                <a:effectLst/>
                <a:latin typeface="+mn-lt"/>
                <a:ea typeface="+mn-ea"/>
                <a:cs typeface="+mn-cs"/>
              </a:rPr>
              <a:t>Illustration: </a:t>
            </a: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A mother living in a tenement house went shopping for groceries. While she was in the store, a fire engine raced by. She wondered, “Is the fire engine going to my home?” She had left her baby asleep at home. Forgetting about the groceries, she ran toward home. Her building had fire hoses aimed at it. It was burning like a matchbox. Rushing to the chief, she cried out, “My baby is up there.” He shouted back to her, “It would be suicide for anyone to go up there now; it’s too late.”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 young fireman standing by volunteered, “Chief, I have a little baby at home, and if my house were on fire, I’d want someone to go up to save my baby. I’ll go.” The young fireman climbed the stairs; he got the baby, threw her into the rescue net, and just as he did, the house collapsed, and he was burned to death.</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scene is 20 years later at a graveside. A 20-year-old woman is sobbing softly. Before her, at the head of this grave, is the statue of a fireman. A man stopping by asks respectfully, “Was that your father?” She replies, “No.” “Was that your brother?” “No,” she says. “That’s the man who died for me.” (Ronald J. Lavin, “I Am the Resurrection and the Life,” eSermons.com)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lvl="2"/>
            <a:r>
              <a:rPr lang="en-US" sz="1200" kern="1200" dirty="0">
                <a:solidFill>
                  <a:schemeClr val="tx1"/>
                </a:solidFill>
                <a:effectLst/>
                <a:latin typeface="+mn-lt"/>
                <a:ea typeface="+mn-ea"/>
                <a:cs typeface="+mn-cs"/>
              </a:rPr>
              <a:t>  Fire opens.</a:t>
            </a:r>
          </a:p>
          <a:p>
            <a:r>
              <a:rPr lang="en-US" sz="1200" i="1" kern="1200" dirty="0">
                <a:solidFill>
                  <a:schemeClr val="tx1"/>
                </a:solidFill>
                <a:effectLst/>
                <a:latin typeface="+mn-lt"/>
                <a:ea typeface="+mn-ea"/>
                <a:cs typeface="+mn-cs"/>
              </a:rPr>
              <a:t>And a certain woman named Lydia, a seller of purple, of the city of Thyatira, which worshipped God, heard us: whose heart the Lord opened, that she attended unto the things which were spoken of Paul.  (Act 16:14 KJV)</a:t>
            </a:r>
            <a:endParaRPr lang="en-US" sz="1200" kern="1200" dirty="0">
              <a:solidFill>
                <a:schemeClr val="tx1"/>
              </a:solidFill>
              <a:effectLst/>
              <a:latin typeface="+mn-lt"/>
              <a:ea typeface="+mn-ea"/>
              <a:cs typeface="+mn-cs"/>
            </a:endParaRPr>
          </a:p>
          <a:p>
            <a:pPr lvl="3"/>
            <a:r>
              <a:rPr lang="en-US" sz="1200" kern="1200" dirty="0">
                <a:solidFill>
                  <a:schemeClr val="tx1"/>
                </a:solidFill>
                <a:effectLst/>
                <a:latin typeface="+mn-lt"/>
                <a:ea typeface="+mn-ea"/>
                <a:cs typeface="+mn-cs"/>
              </a:rPr>
              <a:t>Illustration: </a:t>
            </a: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Fire helps giant sequoias in many ways. Small, green cones full of seeds awaiting germination grow near the crown of the trees, yet without fire or insects to crack open the cone, the seeds remain trapped inside. ... Fire dries out the cones, enabling them to crack open and deposit their seeds on the forest floor.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lvl="0"/>
            <a:r>
              <a:rPr lang="en-US" sz="1200" b="1" u="sng" kern="1200" dirty="0">
                <a:solidFill>
                  <a:schemeClr val="tx1"/>
                </a:solidFill>
                <a:effectLst/>
                <a:latin typeface="+mn-lt"/>
                <a:ea typeface="+mn-ea"/>
                <a:cs typeface="+mn-cs"/>
              </a:rPr>
              <a:t>A HAMMER TO BREAK (JER. 23:29)</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Is not my word like as a fire? saith the LORD; and like a hammer that </a:t>
            </a:r>
            <a:r>
              <a:rPr lang="en-US" sz="1200" i="1" kern="1200" dirty="0" err="1">
                <a:solidFill>
                  <a:schemeClr val="tx1"/>
                </a:solidFill>
                <a:effectLst/>
                <a:latin typeface="+mn-lt"/>
                <a:ea typeface="+mn-ea"/>
                <a:cs typeface="+mn-cs"/>
              </a:rPr>
              <a:t>breaketh</a:t>
            </a:r>
            <a:r>
              <a:rPr lang="en-US" sz="1200" i="1" kern="1200" dirty="0">
                <a:solidFill>
                  <a:schemeClr val="tx1"/>
                </a:solidFill>
                <a:effectLst/>
                <a:latin typeface="+mn-lt"/>
                <a:ea typeface="+mn-ea"/>
                <a:cs typeface="+mn-cs"/>
              </a:rPr>
              <a:t> the rock in pieces? (</a:t>
            </a:r>
            <a:r>
              <a:rPr lang="en-US" sz="1200" i="1" kern="1200" dirty="0" err="1">
                <a:solidFill>
                  <a:schemeClr val="tx1"/>
                </a:solidFill>
                <a:effectLst/>
                <a:latin typeface="+mn-lt"/>
                <a:ea typeface="+mn-ea"/>
                <a:cs typeface="+mn-cs"/>
              </a:rPr>
              <a:t>Jer</a:t>
            </a:r>
            <a:r>
              <a:rPr lang="en-US" sz="1200" i="1" kern="1200" dirty="0">
                <a:solidFill>
                  <a:schemeClr val="tx1"/>
                </a:solidFill>
                <a:effectLst/>
                <a:latin typeface="+mn-lt"/>
                <a:ea typeface="+mn-ea"/>
                <a:cs typeface="+mn-cs"/>
              </a:rPr>
              <a:t> 23:29 KJV)</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To break the enemies of the church.</a:t>
            </a:r>
          </a:p>
          <a:p>
            <a:pPr lvl="2"/>
            <a:r>
              <a:rPr lang="en-US" sz="1200" kern="1200" dirty="0">
                <a:solidFill>
                  <a:schemeClr val="tx1"/>
                </a:solidFill>
                <a:effectLst/>
                <a:latin typeface="+mn-lt"/>
                <a:ea typeface="+mn-ea"/>
                <a:cs typeface="+mn-cs"/>
              </a:rPr>
              <a:t>  To break their false gods.</a:t>
            </a:r>
          </a:p>
          <a:p>
            <a:pPr lvl="3"/>
            <a:r>
              <a:rPr lang="en-US" sz="1200" kern="1200" dirty="0">
                <a:solidFill>
                  <a:schemeClr val="tx1"/>
                </a:solidFill>
                <a:effectLst/>
                <a:latin typeface="+mn-lt"/>
                <a:ea typeface="+mn-ea"/>
                <a:cs typeface="+mn-cs"/>
              </a:rPr>
              <a:t>Illustration: </a:t>
            </a:r>
          </a:p>
          <a:p>
            <a:r>
              <a:rPr lang="en-US" sz="1200" kern="1200" dirty="0">
                <a:solidFill>
                  <a:schemeClr val="tx1"/>
                </a:solidFill>
                <a:effectLst/>
                <a:latin typeface="+mn-lt"/>
                <a:ea typeface="+mn-ea"/>
                <a:cs typeface="+mn-cs"/>
              </a:rPr>
              <a:t> </a:t>
            </a:r>
          </a:p>
          <a:p>
            <a:r>
              <a:rPr lang="en-US" sz="1200" i="1" kern="1200" dirty="0" err="1">
                <a:solidFill>
                  <a:schemeClr val="tx1"/>
                </a:solidFill>
                <a:effectLst/>
                <a:latin typeface="+mn-lt"/>
                <a:ea typeface="+mn-ea"/>
                <a:cs typeface="+mn-cs"/>
              </a:rPr>
              <a:t>Hideyoshi</a:t>
            </a:r>
            <a:r>
              <a:rPr lang="en-US" sz="1200" i="1" kern="1200" dirty="0">
                <a:solidFill>
                  <a:schemeClr val="tx1"/>
                </a:solidFill>
                <a:effectLst/>
                <a:latin typeface="+mn-lt"/>
                <a:ea typeface="+mn-ea"/>
                <a:cs typeface="+mn-cs"/>
              </a:rPr>
              <a:t>, a Japanese warlord who ruled over Japan in the late 1500s, commissioned a colossal statue of Buddha for a shrine in Kyoto. It took 50,000 men five years to build, but the work had scarcely been completed when the earthquake of 1596 brought the roof of the shrine crashing down and wrecked the statue. In a rage </a:t>
            </a:r>
            <a:r>
              <a:rPr lang="en-US" sz="1200" i="1" kern="1200" dirty="0" err="1">
                <a:solidFill>
                  <a:schemeClr val="tx1"/>
                </a:solidFill>
                <a:effectLst/>
                <a:latin typeface="+mn-lt"/>
                <a:ea typeface="+mn-ea"/>
                <a:cs typeface="+mn-cs"/>
              </a:rPr>
              <a:t>Hideyoshi</a:t>
            </a:r>
            <a:r>
              <a:rPr lang="en-US" sz="1200" i="1" kern="1200" dirty="0">
                <a:solidFill>
                  <a:schemeClr val="tx1"/>
                </a:solidFill>
                <a:effectLst/>
                <a:latin typeface="+mn-lt"/>
                <a:ea typeface="+mn-ea"/>
                <a:cs typeface="+mn-cs"/>
              </a:rPr>
              <a:t> shot an arrow at the fallen colossus. “I put you here at great expense,” he shouted, “and you can’t even look after your own temple.” Today in the Word, MBI, August, 1991, p. 23</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But ye shall destroy their altars, break their images, and cut down their groves: (Exo 34:13 KJV)</a:t>
            </a:r>
            <a:endParaRPr lang="en-US" sz="1200" kern="1200" dirty="0">
              <a:solidFill>
                <a:schemeClr val="tx1"/>
              </a:solidFill>
              <a:effectLst/>
              <a:latin typeface="+mn-lt"/>
              <a:ea typeface="+mn-ea"/>
              <a:cs typeface="+mn-cs"/>
            </a:endParaRPr>
          </a:p>
          <a:p>
            <a:pPr lvl="2"/>
            <a:r>
              <a:rPr lang="en-US" sz="1200" kern="1200" dirty="0">
                <a:solidFill>
                  <a:schemeClr val="tx1"/>
                </a:solidFill>
                <a:effectLst/>
                <a:latin typeface="+mn-lt"/>
                <a:ea typeface="+mn-ea"/>
                <a:cs typeface="+mn-cs"/>
              </a:rPr>
              <a:t> To break down their strongholds.</a:t>
            </a:r>
          </a:p>
          <a:p>
            <a:pPr lvl="3"/>
            <a:r>
              <a:rPr lang="en-US" sz="1200" kern="1200" dirty="0">
                <a:solidFill>
                  <a:schemeClr val="tx1"/>
                </a:solidFill>
                <a:effectLst/>
                <a:latin typeface="+mn-lt"/>
                <a:ea typeface="+mn-ea"/>
                <a:cs typeface="+mn-cs"/>
              </a:rPr>
              <a:t>Illustration: </a:t>
            </a:r>
          </a:p>
          <a:p>
            <a:r>
              <a:rPr lang="en-US" sz="1200" i="1" kern="1200" dirty="0">
                <a:solidFill>
                  <a:schemeClr val="tx1"/>
                </a:solidFill>
                <a:effectLst/>
                <a:latin typeface="+mn-lt"/>
                <a:ea typeface="+mn-ea"/>
                <a:cs typeface="+mn-cs"/>
              </a:rPr>
              <a:t>In The Wounded Healer, Henri Nouwen retells a tale from ancient India: Four royal brothers decided each to master a special ability. Time went by, and the brothers met to reveal what they had learned.</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“I have mastered a science,” said the first, “by which I can take but a bone of some creature and create the flesh that goes with it.”</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“I,” said the second, “know how to grow that creature’s skin and hair if there is flesh on its bones.”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third said, “I am able to create its limbs if I have flesh, the skin, and the hair.”</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“And I,” concluded the fourth, “know how to give life to that creature if its form is complete.”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Thereupon the brothers went into the jungle to find a bone so they could demonstrate their specialties. As fate would have it, the bone they found was a lion’s. One added flesh to the bone, the second grew hide and hair, the third completed it with matching limbs, and the fourth gave the lion life.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Shaking its mane, the ferocious beast arose and jumped on his creators. He killed them all and vanished contentedly into the jungle.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We too have the capacity to create what can devour us. Goals and dreams can consume us. Possessions and property can turn and destroy us—unless we first seek God’s kingdom and righteousness and allow Him to breathe into what we make of life. - Nathan </a:t>
            </a:r>
            <a:r>
              <a:rPr lang="en-US" sz="1200" i="1" kern="1200" dirty="0" err="1">
                <a:solidFill>
                  <a:schemeClr val="tx1"/>
                </a:solidFill>
                <a:effectLst/>
                <a:latin typeface="+mn-lt"/>
                <a:ea typeface="+mn-ea"/>
                <a:cs typeface="+mn-cs"/>
              </a:rPr>
              <a:t>Castens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He shall break in pieces mighty men without number, and set others in their stead. (Job 34:24 KJV)</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lvl="1"/>
            <a:r>
              <a:rPr lang="en-US" sz="1200" kern="1200" dirty="0">
                <a:solidFill>
                  <a:schemeClr val="tx1"/>
                </a:solidFill>
                <a:effectLst/>
                <a:latin typeface="+mn-lt"/>
                <a:ea typeface="+mn-ea"/>
                <a:cs typeface="+mn-cs"/>
              </a:rPr>
              <a:t>To break down gates.</a:t>
            </a:r>
          </a:p>
          <a:p>
            <a:r>
              <a:rPr lang="en-US" sz="1200" i="1" kern="1200" dirty="0">
                <a:solidFill>
                  <a:schemeClr val="tx1"/>
                </a:solidFill>
                <a:effectLst/>
                <a:latin typeface="+mn-lt"/>
                <a:ea typeface="+mn-ea"/>
                <a:cs typeface="+mn-cs"/>
              </a:rPr>
              <a:t>When Jesus came into the coasts of Caesarea Philippi, he asked his disciples, saying, Whom do men say that I the Son of man am? And they said, Some say that thou art John the Baptist: some, Elias; and others, Jeremias, or one of the prophets. He saith unto them, But whom say ye that I am? And Simon Peter answered and said, Thou art the Christ, the Son of the living God. And Jesus answered and said unto him, Blessed art thou, Simon </a:t>
            </a:r>
            <a:r>
              <a:rPr lang="en-US" sz="1200" i="1" kern="1200" dirty="0" err="1">
                <a:solidFill>
                  <a:schemeClr val="tx1"/>
                </a:solidFill>
                <a:effectLst/>
                <a:latin typeface="+mn-lt"/>
                <a:ea typeface="+mn-ea"/>
                <a:cs typeface="+mn-cs"/>
              </a:rPr>
              <a:t>Barjona</a:t>
            </a:r>
            <a:r>
              <a:rPr lang="en-US" sz="1200" i="1" kern="1200" dirty="0">
                <a:solidFill>
                  <a:schemeClr val="tx1"/>
                </a:solidFill>
                <a:effectLst/>
                <a:latin typeface="+mn-lt"/>
                <a:ea typeface="+mn-ea"/>
                <a:cs typeface="+mn-cs"/>
              </a:rPr>
              <a:t>: for flesh and blood hath not revealed it unto thee, but my Father which is in heaven. And I say also unto thee, That thou art Peter, and upon this rock I will build my church; and the gates of hell shall not prevail against it. And I will give unto thee the keys of the kingdom of heaven: and whatsoever thou shalt bind on earth shall be bound in heaven: and whatsoever thou shalt loose on earth shall be loosed in heaven. Then charged he his disciples that they should tell no man that he was Jesus the Christ. (Mat 16:13-20 KJV)</a:t>
            </a:r>
            <a:endParaRPr lang="en-US" sz="1200" kern="1200" dirty="0">
              <a:solidFill>
                <a:schemeClr val="tx1"/>
              </a:solidFill>
              <a:effectLst/>
              <a:latin typeface="+mn-lt"/>
              <a:ea typeface="+mn-ea"/>
              <a:cs typeface="+mn-cs"/>
            </a:endParaRPr>
          </a:p>
          <a:p>
            <a:pPr lvl="2"/>
            <a:r>
              <a:rPr lang="en-US" sz="1200" kern="1200" dirty="0">
                <a:solidFill>
                  <a:schemeClr val="tx1"/>
                </a:solidFill>
                <a:effectLst/>
                <a:latin typeface="+mn-lt"/>
                <a:ea typeface="+mn-ea"/>
                <a:cs typeface="+mn-cs"/>
              </a:rPr>
              <a:t> To break down the rock</a:t>
            </a:r>
          </a:p>
          <a:p>
            <a:pPr lvl="3"/>
            <a:r>
              <a:rPr lang="en-US" sz="1200" kern="1200" dirty="0">
                <a:solidFill>
                  <a:schemeClr val="tx1"/>
                </a:solidFill>
                <a:effectLst/>
                <a:latin typeface="+mn-lt"/>
                <a:ea typeface="+mn-ea"/>
                <a:cs typeface="+mn-cs"/>
              </a:rPr>
              <a:t>Illustration of Caesarea Philippi</a:t>
            </a:r>
          </a:p>
          <a:p>
            <a:pPr lvl="2"/>
            <a:r>
              <a:rPr lang="en-US" sz="1200" kern="1200" dirty="0">
                <a:solidFill>
                  <a:schemeClr val="tx1"/>
                </a:solidFill>
                <a:effectLst/>
                <a:latin typeface="+mn-lt"/>
                <a:ea typeface="+mn-ea"/>
                <a:cs typeface="+mn-cs"/>
              </a:rPr>
              <a:t> To break down the gates</a:t>
            </a:r>
          </a:p>
          <a:p>
            <a:pPr lvl="1"/>
            <a:r>
              <a:rPr lang="en-US" sz="1200" kern="1200" dirty="0">
                <a:solidFill>
                  <a:schemeClr val="tx1"/>
                </a:solidFill>
                <a:effectLst/>
                <a:latin typeface="+mn-lt"/>
                <a:ea typeface="+mn-ea"/>
                <a:cs typeface="+mn-cs"/>
              </a:rPr>
              <a:t>To break pride.</a:t>
            </a:r>
          </a:p>
          <a:p>
            <a:pPr lvl="2"/>
            <a:r>
              <a:rPr lang="en-US" sz="1200" kern="1200" dirty="0">
                <a:solidFill>
                  <a:schemeClr val="tx1"/>
                </a:solidFill>
                <a:effectLst/>
                <a:latin typeface="+mn-lt"/>
                <a:ea typeface="+mn-ea"/>
                <a:cs typeface="+mn-cs"/>
              </a:rPr>
              <a:t>  Illustration: </a:t>
            </a: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Golf immortal Arnold Palmer recalls a lesson about overconfidence: It was the final hole of the 1961 Masters tournament, and I had a one-stroke lead and had just hit a very satisfying tee shot. I felt I was in pretty good shape. As I approached my ball, I saw an old friend standing at the edge of the gallery. He motioned me over, stuck out his hand and said, Congratulations.” I took his hand and shook it, but as soon as I did, I knew I had lost my focus. On my next two shots, I hit the ball into a sand trap, then put it over the edge of the green. I missed a putt and lost the Masters.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You don’t forget a mistake like that; you just learn from it and become determined that you will never do that again. I haven’t in the 30 years since.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Carol Mann, The 19th Hole (Longmeadow)</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And I will break the pride of your power; and I will make your heaven as iron, and your earth as brass:  (Lev 26:19 KJV)</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lvl="0"/>
            <a:r>
              <a:rPr lang="en-US" sz="1200" b="1" u="sng" kern="1200" dirty="0">
                <a:solidFill>
                  <a:schemeClr val="tx1"/>
                </a:solidFill>
                <a:effectLst/>
                <a:latin typeface="+mn-lt"/>
                <a:ea typeface="+mn-ea"/>
                <a:cs typeface="+mn-cs"/>
              </a:rPr>
              <a:t>A LAMP TO SHINE (PS. 119:105)</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NUN. Thy word is a lamp unto my feet, and a light unto my path. (</a:t>
            </a:r>
            <a:r>
              <a:rPr lang="en-US" sz="1200" i="1" kern="1200" dirty="0" err="1">
                <a:solidFill>
                  <a:schemeClr val="tx1"/>
                </a:solidFill>
                <a:effectLst/>
                <a:latin typeface="+mn-lt"/>
                <a:ea typeface="+mn-ea"/>
                <a:cs typeface="+mn-cs"/>
              </a:rPr>
              <a:t>Psa</a:t>
            </a:r>
            <a:r>
              <a:rPr lang="en-US" sz="1200" i="1" kern="1200" dirty="0">
                <a:solidFill>
                  <a:schemeClr val="tx1"/>
                </a:solidFill>
                <a:effectLst/>
                <a:latin typeface="+mn-lt"/>
                <a:ea typeface="+mn-ea"/>
                <a:cs typeface="+mn-cs"/>
              </a:rPr>
              <a:t> 119:105 KJV)</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To shine in the darkness.</a:t>
            </a:r>
          </a:p>
          <a:p>
            <a:pPr lvl="1"/>
            <a:r>
              <a:rPr lang="en-US" sz="1200" kern="1200" dirty="0">
                <a:solidFill>
                  <a:schemeClr val="tx1"/>
                </a:solidFill>
                <a:effectLst/>
                <a:latin typeface="+mn-lt"/>
                <a:ea typeface="+mn-ea"/>
                <a:cs typeface="+mn-cs"/>
              </a:rPr>
              <a:t>To shine on every false practice.</a:t>
            </a:r>
          </a:p>
          <a:p>
            <a:pPr lvl="1"/>
            <a:r>
              <a:rPr lang="en-US" sz="1200" kern="1200" dirty="0">
                <a:solidFill>
                  <a:schemeClr val="tx1"/>
                </a:solidFill>
                <a:effectLst/>
                <a:latin typeface="+mn-lt"/>
                <a:ea typeface="+mn-ea"/>
                <a:cs typeface="+mn-cs"/>
              </a:rPr>
              <a:t>To shine on the character of Christ.</a:t>
            </a:r>
          </a:p>
          <a:p>
            <a:r>
              <a:rPr lang="en-US" sz="1200" kern="1200" dirty="0">
                <a:solidFill>
                  <a:schemeClr val="tx1"/>
                </a:solidFill>
                <a:effectLst/>
                <a:latin typeface="+mn-lt"/>
                <a:ea typeface="+mn-ea"/>
                <a:cs typeface="+mn-cs"/>
              </a:rPr>
              <a:t> </a:t>
            </a:r>
          </a:p>
          <a:p>
            <a:pPr lvl="0"/>
            <a:r>
              <a:rPr lang="en-US" sz="1200" b="1" u="sng" kern="1200" dirty="0">
                <a:solidFill>
                  <a:schemeClr val="tx1"/>
                </a:solidFill>
                <a:effectLst/>
                <a:latin typeface="+mn-lt"/>
                <a:ea typeface="+mn-ea"/>
                <a:cs typeface="+mn-cs"/>
              </a:rPr>
              <a:t>A SWORD TO SMITE (HEB. 4:12)</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For the word of God is quick, and powerful, and sharper than any </a:t>
            </a:r>
            <a:r>
              <a:rPr lang="en-US" sz="1200" i="1" kern="1200" dirty="0" err="1">
                <a:solidFill>
                  <a:schemeClr val="tx1"/>
                </a:solidFill>
                <a:effectLst/>
                <a:latin typeface="+mn-lt"/>
                <a:ea typeface="+mn-ea"/>
                <a:cs typeface="+mn-cs"/>
              </a:rPr>
              <a:t>twoedged</a:t>
            </a:r>
            <a:r>
              <a:rPr lang="en-US" sz="1200" i="1" kern="1200" dirty="0">
                <a:solidFill>
                  <a:schemeClr val="tx1"/>
                </a:solidFill>
                <a:effectLst/>
                <a:latin typeface="+mn-lt"/>
                <a:ea typeface="+mn-ea"/>
                <a:cs typeface="+mn-cs"/>
              </a:rPr>
              <a:t> sword, piercing even to the dividing asunder of soul and spirit, and of the joints and marrow, and is a discerner of the thoughts and intents of the heart. (Heb 4:12 KJV)</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To smite the devil and all evils.</a:t>
            </a:r>
          </a:p>
          <a:p>
            <a:pPr lvl="1"/>
            <a:r>
              <a:rPr lang="en-US" sz="1200" kern="1200" dirty="0">
                <a:solidFill>
                  <a:schemeClr val="tx1"/>
                </a:solidFill>
                <a:effectLst/>
                <a:latin typeface="+mn-lt"/>
                <a:ea typeface="+mn-ea"/>
                <a:cs typeface="+mn-cs"/>
              </a:rPr>
              <a:t>To smite every sin that ensnares.</a:t>
            </a:r>
          </a:p>
          <a:p>
            <a:pPr lvl="1"/>
            <a:r>
              <a:rPr lang="en-US" sz="1200" kern="1200" dirty="0">
                <a:solidFill>
                  <a:schemeClr val="tx1"/>
                </a:solidFill>
                <a:effectLst/>
                <a:latin typeface="+mn-lt"/>
                <a:ea typeface="+mn-ea"/>
                <a:cs typeface="+mn-cs"/>
              </a:rPr>
              <a:t>To smite enemies of Christ.</a:t>
            </a:r>
          </a:p>
          <a:p>
            <a:r>
              <a:rPr lang="en-US" sz="1200" kern="1200" dirty="0">
                <a:solidFill>
                  <a:schemeClr val="tx1"/>
                </a:solidFill>
                <a:effectLst/>
                <a:latin typeface="+mn-lt"/>
                <a:ea typeface="+mn-ea"/>
                <a:cs typeface="+mn-cs"/>
              </a:rPr>
              <a:t> </a:t>
            </a:r>
          </a:p>
          <a:p>
            <a:pPr lvl="0"/>
            <a:r>
              <a:rPr lang="en-US" sz="1200" b="1" u="sng" kern="1200" dirty="0">
                <a:solidFill>
                  <a:schemeClr val="tx1"/>
                </a:solidFill>
                <a:effectLst/>
                <a:latin typeface="+mn-lt"/>
                <a:ea typeface="+mn-ea"/>
                <a:cs typeface="+mn-cs"/>
              </a:rPr>
              <a:t>A MIRROR TO REVEAL (JAMES 1:23)</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For if any be a hearer of the word, and not a doer, he is like unto a man beholding his natural face in a glass: (Jas 1:23 KJV)</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To reveal truth.</a:t>
            </a:r>
          </a:p>
          <a:p>
            <a:pPr lvl="1"/>
            <a:r>
              <a:rPr lang="en-US" sz="1200" kern="1200" dirty="0">
                <a:solidFill>
                  <a:schemeClr val="tx1"/>
                </a:solidFill>
                <a:effectLst/>
                <a:latin typeface="+mn-lt"/>
                <a:ea typeface="+mn-ea"/>
                <a:cs typeface="+mn-cs"/>
              </a:rPr>
              <a:t>To reveal the intents of the heart.</a:t>
            </a:r>
          </a:p>
          <a:p>
            <a:pPr lvl="1"/>
            <a:r>
              <a:rPr lang="en-US" sz="1200" kern="1200" dirty="0">
                <a:solidFill>
                  <a:schemeClr val="tx1"/>
                </a:solidFill>
                <a:effectLst/>
                <a:latin typeface="+mn-lt"/>
                <a:ea typeface="+mn-ea"/>
                <a:cs typeface="+mn-cs"/>
              </a:rPr>
              <a:t>To reveal Christ in the life of the saint.</a:t>
            </a:r>
          </a:p>
          <a:p>
            <a:r>
              <a:rPr lang="en-US" sz="1200" kern="1200" dirty="0">
                <a:solidFill>
                  <a:schemeClr val="tx1"/>
                </a:solidFill>
                <a:effectLst/>
                <a:latin typeface="+mn-lt"/>
                <a:ea typeface="+mn-ea"/>
                <a:cs typeface="+mn-cs"/>
              </a:rPr>
              <a:t> </a:t>
            </a:r>
          </a:p>
          <a:p>
            <a:pPr lvl="0"/>
            <a:r>
              <a:rPr lang="en-US" sz="1200" b="1" u="sng" kern="1200" dirty="0">
                <a:solidFill>
                  <a:schemeClr val="tx1"/>
                </a:solidFill>
                <a:effectLst/>
                <a:latin typeface="+mn-lt"/>
                <a:ea typeface="+mn-ea"/>
                <a:cs typeface="+mn-cs"/>
              </a:rPr>
              <a:t>A FOOD TO SUSTAIN (1 PET. 2:2)</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As newborn babes, desire the sincere milk of the word, that ye may grow thereby: (1Pe 2:2 KJV)</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To sustain faith.</a:t>
            </a:r>
          </a:p>
          <a:p>
            <a:pPr lvl="1"/>
            <a:r>
              <a:rPr lang="en-US" sz="1200" kern="1200" dirty="0">
                <a:solidFill>
                  <a:schemeClr val="tx1"/>
                </a:solidFill>
                <a:effectLst/>
                <a:latin typeface="+mn-lt"/>
                <a:ea typeface="+mn-ea"/>
                <a:cs typeface="+mn-cs"/>
              </a:rPr>
              <a:t>To sustain hope.</a:t>
            </a:r>
          </a:p>
          <a:p>
            <a:pPr lvl="1"/>
            <a:r>
              <a:rPr lang="en-US" sz="1200" kern="1200" dirty="0">
                <a:solidFill>
                  <a:schemeClr val="tx1"/>
                </a:solidFill>
                <a:effectLst/>
                <a:latin typeface="+mn-lt"/>
                <a:ea typeface="+mn-ea"/>
                <a:cs typeface="+mn-cs"/>
              </a:rPr>
              <a:t>To sustain love.</a:t>
            </a:r>
          </a:p>
          <a:p>
            <a:r>
              <a:rPr lang="en-US" sz="1200" kern="1200" dirty="0">
                <a:solidFill>
                  <a:schemeClr val="tx1"/>
                </a:solidFill>
                <a:effectLst/>
                <a:latin typeface="+mn-lt"/>
                <a:ea typeface="+mn-ea"/>
                <a:cs typeface="+mn-cs"/>
              </a:rPr>
              <a:t> </a:t>
            </a:r>
          </a:p>
          <a:p>
            <a:pPr lvl="0"/>
            <a:r>
              <a:rPr lang="en-US" sz="1200" b="1" u="sng" kern="1200" dirty="0">
                <a:solidFill>
                  <a:schemeClr val="tx1"/>
                </a:solidFill>
                <a:effectLst/>
                <a:latin typeface="+mn-lt"/>
                <a:ea typeface="+mn-ea"/>
                <a:cs typeface="+mn-cs"/>
              </a:rPr>
              <a:t>A WATER TO CLEANSE (PS. 119:9)</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BETH. Wherewithal shall a young man cleanse his way? by taking heed thereto according to thy word. (</a:t>
            </a:r>
            <a:r>
              <a:rPr lang="en-US" sz="1200" i="1" kern="1200" dirty="0" err="1">
                <a:solidFill>
                  <a:schemeClr val="tx1"/>
                </a:solidFill>
                <a:effectLst/>
                <a:latin typeface="+mn-lt"/>
                <a:ea typeface="+mn-ea"/>
                <a:cs typeface="+mn-cs"/>
              </a:rPr>
              <a:t>Psa</a:t>
            </a:r>
            <a:r>
              <a:rPr lang="en-US" sz="1200" i="1" kern="1200" dirty="0">
                <a:solidFill>
                  <a:schemeClr val="tx1"/>
                </a:solidFill>
                <a:effectLst/>
                <a:latin typeface="+mn-lt"/>
                <a:ea typeface="+mn-ea"/>
                <a:cs typeface="+mn-cs"/>
              </a:rPr>
              <a:t> 119:9 KJV)</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To cleanse conscience.</a:t>
            </a:r>
          </a:p>
          <a:p>
            <a:pPr lvl="1"/>
            <a:r>
              <a:rPr lang="en-US" sz="1200" kern="1200" dirty="0">
                <a:solidFill>
                  <a:schemeClr val="tx1"/>
                </a:solidFill>
                <a:effectLst/>
                <a:latin typeface="+mn-lt"/>
                <a:ea typeface="+mn-ea"/>
                <a:cs typeface="+mn-cs"/>
              </a:rPr>
              <a:t>To cleanse doubt.</a:t>
            </a:r>
          </a:p>
          <a:p>
            <a:pPr lvl="1"/>
            <a:r>
              <a:rPr lang="en-US" sz="1200" kern="1200" dirty="0">
                <a:solidFill>
                  <a:schemeClr val="tx1"/>
                </a:solidFill>
                <a:effectLst/>
                <a:latin typeface="+mn-lt"/>
                <a:ea typeface="+mn-ea"/>
                <a:cs typeface="+mn-cs"/>
              </a:rPr>
              <a:t>To cleanse fear.</a:t>
            </a:r>
          </a:p>
          <a:p>
            <a:r>
              <a:rPr lang="en-US" sz="1200" b="1" u="sng"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FB6BB2F9-5251-462A-916C-F07B445BFD71}" type="slidenum">
              <a:rPr lang="en-US" smtClean="0"/>
              <a:t>1</a:t>
            </a:fld>
            <a:endParaRPr lang="en-US"/>
          </a:p>
        </p:txBody>
      </p:sp>
    </p:spTree>
    <p:extLst>
      <p:ext uri="{BB962C8B-B14F-4D97-AF65-F5344CB8AC3E}">
        <p14:creationId xmlns:p14="http://schemas.microsoft.com/office/powerpoint/2010/main" val="3422723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7/23/2021</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835890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31053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4582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06770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7942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7425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473070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1391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5689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88164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7/23/2021</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67455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7/23/2021</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4127480079"/>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2" r:id="rId6"/>
    <p:sldLayoutId id="2147483738" r:id="rId7"/>
    <p:sldLayoutId id="2147483739" r:id="rId8"/>
    <p:sldLayoutId id="2147483740" r:id="rId9"/>
    <p:sldLayoutId id="2147483741" r:id="rId10"/>
    <p:sldLayoutId id="2147483743"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lorful oil painting of a sunset">
            <a:extLst>
              <a:ext uri="{FF2B5EF4-FFF2-40B4-BE49-F238E27FC236}">
                <a16:creationId xmlns:a16="http://schemas.microsoft.com/office/drawing/2014/main" id="{FD80799B-E291-460F-A566-5529A813E2E0}"/>
              </a:ext>
            </a:extLst>
          </p:cNvPr>
          <p:cNvPicPr>
            <a:picLocks noChangeAspect="1"/>
          </p:cNvPicPr>
          <p:nvPr/>
        </p:nvPicPr>
        <p:blipFill rotWithShape="1">
          <a:blip r:embed="rId3">
            <a:alphaModFix amt="50000"/>
          </a:blip>
          <a:srcRect t="15709" r="-1" b="-1"/>
          <a:stretch/>
        </p:blipFill>
        <p:spPr>
          <a:xfrm>
            <a:off x="20" y="10"/>
            <a:ext cx="12188930" cy="6857990"/>
          </a:xfrm>
          <a:prstGeom prst="rect">
            <a:avLst/>
          </a:prstGeom>
        </p:spPr>
      </p:pic>
      <p:sp>
        <p:nvSpPr>
          <p:cNvPr id="2" name="Title 1">
            <a:extLst>
              <a:ext uri="{FF2B5EF4-FFF2-40B4-BE49-F238E27FC236}">
                <a16:creationId xmlns:a16="http://schemas.microsoft.com/office/drawing/2014/main" id="{26614F16-9DB9-4F59-B64D-F261851FE1D4}"/>
              </a:ext>
            </a:extLst>
          </p:cNvPr>
          <p:cNvSpPr>
            <a:spLocks noGrp="1"/>
          </p:cNvSpPr>
          <p:nvPr>
            <p:ph type="ctrTitle"/>
          </p:nvPr>
        </p:nvSpPr>
        <p:spPr>
          <a:xfrm>
            <a:off x="1524000" y="1122363"/>
            <a:ext cx="9144000" cy="3063240"/>
          </a:xfrm>
        </p:spPr>
        <p:txBody>
          <a:bodyPr>
            <a:normAutofit/>
          </a:bodyPr>
          <a:lstStyle/>
          <a:p>
            <a:pPr algn="ctr">
              <a:lnSpc>
                <a:spcPct val="90000"/>
              </a:lnSpc>
            </a:pPr>
            <a:r>
              <a:rPr lang="en-US" sz="8400"/>
              <a:t>7 FIGURES OF THE WORD OF GOD</a:t>
            </a:r>
          </a:p>
        </p:txBody>
      </p:sp>
      <p:sp>
        <p:nvSpPr>
          <p:cNvPr id="3" name="Subtitle 2">
            <a:extLst>
              <a:ext uri="{FF2B5EF4-FFF2-40B4-BE49-F238E27FC236}">
                <a16:creationId xmlns:a16="http://schemas.microsoft.com/office/drawing/2014/main" id="{824C09A7-B32A-4BCA-BF5A-67E6CBA5DA07}"/>
              </a:ext>
            </a:extLst>
          </p:cNvPr>
          <p:cNvSpPr>
            <a:spLocks noGrp="1"/>
          </p:cNvSpPr>
          <p:nvPr>
            <p:ph type="subTitle" idx="1"/>
          </p:nvPr>
        </p:nvSpPr>
        <p:spPr>
          <a:xfrm>
            <a:off x="1527048" y="4599432"/>
            <a:ext cx="9144000" cy="1536192"/>
          </a:xfrm>
        </p:spPr>
        <p:txBody>
          <a:bodyPr>
            <a:normAutofit/>
          </a:bodyPr>
          <a:lstStyle/>
          <a:p>
            <a:pPr algn="ctr"/>
            <a:r>
              <a:rPr lang="en-US" sz="3200" dirty="0"/>
              <a:t>JEREMIAH 23:29</a:t>
            </a:r>
          </a:p>
        </p:txBody>
      </p:sp>
      <p:sp>
        <p:nvSpPr>
          <p:cNvPr id="16" name="Rectangle 6">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67727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1"/>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979D2B3-D016-4D49-9AD3-6EF4FDBBD7E0}"/>
              </a:ext>
            </a:extLst>
          </p:cNvPr>
          <p:cNvSpPr>
            <a:spLocks noGrp="1"/>
          </p:cNvSpPr>
          <p:nvPr>
            <p:ph type="title"/>
          </p:nvPr>
        </p:nvSpPr>
        <p:spPr>
          <a:xfrm>
            <a:off x="841246" y="673770"/>
            <a:ext cx="3644489" cy="2414488"/>
          </a:xfrm>
        </p:spPr>
        <p:txBody>
          <a:bodyPr anchor="t">
            <a:normAutofit/>
          </a:bodyPr>
          <a:lstStyle/>
          <a:p>
            <a:pPr>
              <a:lnSpc>
                <a:spcPct val="90000"/>
              </a:lnSpc>
            </a:pPr>
            <a:r>
              <a:rPr lang="en-US" sz="5100">
                <a:solidFill>
                  <a:schemeClr val="bg1"/>
                </a:solidFill>
              </a:rPr>
              <a:t>A FIRE TO MELT (JER. 23:29)</a:t>
            </a:r>
          </a:p>
        </p:txBody>
      </p:sp>
      <p:sp>
        <p:nvSpPr>
          <p:cNvPr id="3" name="Content Placeholder 2">
            <a:extLst>
              <a:ext uri="{FF2B5EF4-FFF2-40B4-BE49-F238E27FC236}">
                <a16:creationId xmlns:a16="http://schemas.microsoft.com/office/drawing/2014/main" id="{6ACA81B0-DB0C-4F07-990A-2A542845FA18}"/>
              </a:ext>
            </a:extLst>
          </p:cNvPr>
          <p:cNvSpPr>
            <a:spLocks noGrp="1"/>
          </p:cNvSpPr>
          <p:nvPr>
            <p:ph idx="1"/>
          </p:nvPr>
        </p:nvSpPr>
        <p:spPr>
          <a:xfrm>
            <a:off x="6095999" y="882315"/>
            <a:ext cx="5254754" cy="5294647"/>
          </a:xfrm>
        </p:spPr>
        <p:txBody>
          <a:bodyPr>
            <a:normAutofit/>
          </a:bodyPr>
          <a:lstStyle/>
          <a:p>
            <a:r>
              <a:rPr lang="en-US" dirty="0"/>
              <a:t>To melt false doctrine.</a:t>
            </a:r>
          </a:p>
          <a:p>
            <a:pPr lvl="1"/>
            <a:r>
              <a:rPr lang="en-US" sz="2800" dirty="0"/>
              <a:t>As smoke is driven away, so drive them away: as wax </a:t>
            </a:r>
            <a:r>
              <a:rPr lang="en-US" sz="2800" dirty="0" err="1"/>
              <a:t>melteth</a:t>
            </a:r>
            <a:r>
              <a:rPr lang="en-US" sz="2800" dirty="0"/>
              <a:t> before the fire, so let the wicked perish at the presence of God.  (</a:t>
            </a:r>
            <a:r>
              <a:rPr lang="en-US" sz="2800" dirty="0" err="1"/>
              <a:t>Psa</a:t>
            </a:r>
            <a:r>
              <a:rPr lang="en-US" sz="2800" dirty="0"/>
              <a:t> 68:2 KJV)</a:t>
            </a:r>
          </a:p>
          <a:p>
            <a:pPr lvl="1"/>
            <a:r>
              <a:rPr lang="en-US" sz="2800" dirty="0"/>
              <a:t>Casting down imaginations, and every high thing that </a:t>
            </a:r>
            <a:r>
              <a:rPr lang="en-US" sz="2800" dirty="0" err="1"/>
              <a:t>exalteth</a:t>
            </a:r>
            <a:r>
              <a:rPr lang="en-US" sz="2800" dirty="0"/>
              <a:t> itself against the knowledge of God and bringing into captivity every thought to the obedience of Christ; And having in a readiness to revenge all disobedience, when your obedience is fulfilled.  (2Co 10:5-6 KJV)</a:t>
            </a:r>
          </a:p>
          <a:p>
            <a:endParaRPr lang="en-US" dirty="0"/>
          </a:p>
        </p:txBody>
      </p:sp>
    </p:spTree>
    <p:extLst>
      <p:ext uri="{BB962C8B-B14F-4D97-AF65-F5344CB8AC3E}">
        <p14:creationId xmlns:p14="http://schemas.microsoft.com/office/powerpoint/2010/main" val="2031333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9D2B3-D016-4D49-9AD3-6EF4FDBBD7E0}"/>
              </a:ext>
            </a:extLst>
          </p:cNvPr>
          <p:cNvSpPr>
            <a:spLocks noGrp="1"/>
          </p:cNvSpPr>
          <p:nvPr>
            <p:ph type="title"/>
          </p:nvPr>
        </p:nvSpPr>
        <p:spPr>
          <a:xfrm>
            <a:off x="838200" y="365125"/>
            <a:ext cx="10515600" cy="1325563"/>
          </a:xfrm>
        </p:spPr>
        <p:txBody>
          <a:bodyPr>
            <a:normAutofit fontScale="90000"/>
          </a:bodyPr>
          <a:lstStyle/>
          <a:p>
            <a:r>
              <a:rPr lang="en-US" sz="6600" dirty="0"/>
              <a:t>A FIRE TO MELT (JER. 23:29)</a:t>
            </a:r>
          </a:p>
        </p:txBody>
      </p:sp>
      <p:sp>
        <p:nvSpPr>
          <p:cNvPr id="3" name="Content Placeholder 2">
            <a:extLst>
              <a:ext uri="{FF2B5EF4-FFF2-40B4-BE49-F238E27FC236}">
                <a16:creationId xmlns:a16="http://schemas.microsoft.com/office/drawing/2014/main" id="{6ACA81B0-DB0C-4F07-990A-2A542845FA18}"/>
              </a:ext>
            </a:extLst>
          </p:cNvPr>
          <p:cNvSpPr>
            <a:spLocks noGrp="1"/>
          </p:cNvSpPr>
          <p:nvPr>
            <p:ph idx="1"/>
          </p:nvPr>
        </p:nvSpPr>
        <p:spPr>
          <a:xfrm>
            <a:off x="838200" y="1929384"/>
            <a:ext cx="10853928" cy="4426624"/>
          </a:xfrm>
        </p:spPr>
        <p:txBody>
          <a:bodyPr>
            <a:noAutofit/>
          </a:bodyPr>
          <a:lstStyle/>
          <a:p>
            <a:r>
              <a:rPr lang="en-US" dirty="0"/>
              <a:t>To melt character.</a:t>
            </a:r>
          </a:p>
          <a:p>
            <a:pPr lvl="1"/>
            <a:r>
              <a:rPr lang="en-US" sz="2800" dirty="0"/>
              <a:t>As smoke is driven away, so drive them away: as wax </a:t>
            </a:r>
            <a:r>
              <a:rPr lang="en-US" sz="2800" dirty="0" err="1"/>
              <a:t>melteth</a:t>
            </a:r>
            <a:r>
              <a:rPr lang="en-US" sz="2800" dirty="0"/>
              <a:t> before the fire, so let the wicked perish at the presence of God.  (</a:t>
            </a:r>
            <a:r>
              <a:rPr lang="en-US" sz="2800" dirty="0" err="1"/>
              <a:t>Psa</a:t>
            </a:r>
            <a:r>
              <a:rPr lang="en-US" sz="2800" dirty="0"/>
              <a:t> 68:2 KJV)</a:t>
            </a:r>
          </a:p>
          <a:p>
            <a:pPr lvl="1"/>
            <a:r>
              <a:rPr lang="en-US" sz="2800" dirty="0"/>
              <a:t>For I, saith the LORD, will be unto her a wall of fire round about, and will be the glory in the midst of her. (Zec 2:5 KJV)</a:t>
            </a:r>
          </a:p>
          <a:p>
            <a:pPr lvl="1"/>
            <a:r>
              <a:rPr lang="en-US" sz="2800" dirty="0"/>
              <a:t>And I will bring the third part through the fire, and will refine them as silver is refined, and will try them as gold is tried: they shall call on my name, and I will hear them: I will say, It is my people: and they shall say, The LORD is my God. (Zec 13:9 KJV)</a:t>
            </a:r>
          </a:p>
        </p:txBody>
      </p:sp>
    </p:spTree>
    <p:extLst>
      <p:ext uri="{BB962C8B-B14F-4D97-AF65-F5344CB8AC3E}">
        <p14:creationId xmlns:p14="http://schemas.microsoft.com/office/powerpoint/2010/main" val="2936715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9D2B3-D016-4D49-9AD3-6EF4FDBBD7E0}"/>
              </a:ext>
            </a:extLst>
          </p:cNvPr>
          <p:cNvSpPr>
            <a:spLocks noGrp="1"/>
          </p:cNvSpPr>
          <p:nvPr>
            <p:ph type="title"/>
          </p:nvPr>
        </p:nvSpPr>
        <p:spPr>
          <a:xfrm>
            <a:off x="838200" y="365125"/>
            <a:ext cx="10515600" cy="1325563"/>
          </a:xfrm>
        </p:spPr>
        <p:txBody>
          <a:bodyPr>
            <a:normAutofit fontScale="90000"/>
          </a:bodyPr>
          <a:lstStyle/>
          <a:p>
            <a:r>
              <a:rPr lang="en-US" sz="6600" dirty="0"/>
              <a:t>A FIRE TO MELT (JER. 23:29)</a:t>
            </a:r>
          </a:p>
        </p:txBody>
      </p:sp>
      <p:sp>
        <p:nvSpPr>
          <p:cNvPr id="3" name="Content Placeholder 2">
            <a:extLst>
              <a:ext uri="{FF2B5EF4-FFF2-40B4-BE49-F238E27FC236}">
                <a16:creationId xmlns:a16="http://schemas.microsoft.com/office/drawing/2014/main" id="{6ACA81B0-DB0C-4F07-990A-2A542845FA18}"/>
              </a:ext>
            </a:extLst>
          </p:cNvPr>
          <p:cNvSpPr>
            <a:spLocks noGrp="1"/>
          </p:cNvSpPr>
          <p:nvPr>
            <p:ph idx="1"/>
          </p:nvPr>
        </p:nvSpPr>
        <p:spPr>
          <a:xfrm>
            <a:off x="838200" y="1929384"/>
            <a:ext cx="10515600" cy="4251960"/>
          </a:xfrm>
        </p:spPr>
        <p:txBody>
          <a:bodyPr>
            <a:normAutofit fontScale="70000" lnSpcReduction="20000"/>
          </a:bodyPr>
          <a:lstStyle/>
          <a:p>
            <a:r>
              <a:rPr lang="en-US" sz="6000" dirty="0"/>
              <a:t>To melt hearts.</a:t>
            </a:r>
          </a:p>
          <a:p>
            <a:pPr lvl="1"/>
            <a:r>
              <a:rPr lang="en-US" sz="5600" dirty="0"/>
              <a:t>Command Aaron and his sons, saying, this is the law of the burnt offering: It is the burnt offering, because of the burning upon the altar all night unto the morning, and the fire of the altar shall be burning in it.  (Lev 6:9 KJV)</a:t>
            </a:r>
          </a:p>
          <a:p>
            <a:pPr lvl="1"/>
            <a:r>
              <a:rPr lang="en-US" sz="5600" dirty="0"/>
              <a:t>And a certain woman named Lydia, a seller of purple, of the city of Thyatira, which worshipped God, heard us: whose heart the Lord opened, that she attended unto the things which were spoken of Paul.  (Act 16:14 KJV)</a:t>
            </a:r>
          </a:p>
          <a:p>
            <a:pPr marL="457200" lvl="1" indent="0">
              <a:buNone/>
            </a:pPr>
            <a:endParaRPr lang="en-US" sz="5600" dirty="0"/>
          </a:p>
          <a:p>
            <a:endParaRPr lang="en-US" dirty="0"/>
          </a:p>
        </p:txBody>
      </p:sp>
    </p:spTree>
    <p:extLst>
      <p:ext uri="{BB962C8B-B14F-4D97-AF65-F5344CB8AC3E}">
        <p14:creationId xmlns:p14="http://schemas.microsoft.com/office/powerpoint/2010/main" val="771742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CD2E6170-CCDA-4A8E-93E5-71658BFB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7CA949-C1D4-421D-89AA-2A0B28F10A12}"/>
              </a:ext>
            </a:extLst>
          </p:cNvPr>
          <p:cNvSpPr>
            <a:spLocks noGrp="1"/>
          </p:cNvSpPr>
          <p:nvPr>
            <p:ph type="title"/>
          </p:nvPr>
        </p:nvSpPr>
        <p:spPr>
          <a:xfrm>
            <a:off x="841248" y="644652"/>
            <a:ext cx="4175758" cy="5568696"/>
          </a:xfrm>
        </p:spPr>
        <p:txBody>
          <a:bodyPr>
            <a:normAutofit/>
          </a:bodyPr>
          <a:lstStyle/>
          <a:p>
            <a:pPr>
              <a:lnSpc>
                <a:spcPct val="90000"/>
              </a:lnSpc>
            </a:pPr>
            <a:r>
              <a:rPr lang="en-US" sz="6100"/>
              <a:t>A HAMMER TO BREAK (JER. 23:29)</a:t>
            </a:r>
          </a:p>
        </p:txBody>
      </p:sp>
      <p:sp>
        <p:nvSpPr>
          <p:cNvPr id="27" name="Freeform: Shape 26">
            <a:extLst>
              <a:ext uri="{FF2B5EF4-FFF2-40B4-BE49-F238E27FC236}">
                <a16:creationId xmlns:a16="http://schemas.microsoft.com/office/drawing/2014/main" id="{A80EBCDD-54A3-491E-9753-1240601E7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77731" y="0"/>
            <a:ext cx="6714269" cy="6858000"/>
          </a:xfrm>
          <a:custGeom>
            <a:avLst/>
            <a:gdLst>
              <a:gd name="connsiteX0" fmla="*/ 1097203 w 6714269"/>
              <a:gd name="connsiteY0" fmla="*/ 0 h 6858000"/>
              <a:gd name="connsiteX1" fmla="*/ 1154155 w 6714269"/>
              <a:gd name="connsiteY1" fmla="*/ 0 h 6858000"/>
              <a:gd name="connsiteX2" fmla="*/ 972305 w 6714269"/>
              <a:gd name="connsiteY2" fmla="*/ 343212 h 6858000"/>
              <a:gd name="connsiteX3" fmla="*/ 780524 w 6714269"/>
              <a:gd name="connsiteY3" fmla="*/ 761067 h 6858000"/>
              <a:gd name="connsiteX4" fmla="*/ 737045 w 6714269"/>
              <a:gd name="connsiteY4" fmla="*/ 865164 h 6858000"/>
              <a:gd name="connsiteX5" fmla="*/ 762322 w 6714269"/>
              <a:gd name="connsiteY5" fmla="*/ 830676 h 6858000"/>
              <a:gd name="connsiteX6" fmla="*/ 1118805 w 6714269"/>
              <a:gd name="connsiteY6" fmla="*/ 160440 h 6858000"/>
              <a:gd name="connsiteX7" fmla="*/ 1221640 w 6714269"/>
              <a:gd name="connsiteY7" fmla="*/ 0 h 6858000"/>
              <a:gd name="connsiteX8" fmla="*/ 6714269 w 6714269"/>
              <a:gd name="connsiteY8" fmla="*/ 0 h 6858000"/>
              <a:gd name="connsiteX9" fmla="*/ 6714269 w 6714269"/>
              <a:gd name="connsiteY9" fmla="*/ 6858000 h 6858000"/>
              <a:gd name="connsiteX10" fmla="*/ 704817 w 6714269"/>
              <a:gd name="connsiteY10" fmla="*/ 6858000 h 6858000"/>
              <a:gd name="connsiteX11" fmla="*/ 618717 w 6714269"/>
              <a:gd name="connsiteY11" fmla="*/ 6672538 h 6858000"/>
              <a:gd name="connsiteX12" fmla="*/ 309324 w 6714269"/>
              <a:gd name="connsiteY12" fmla="*/ 5833618 h 6858000"/>
              <a:gd name="connsiteX13" fmla="*/ 209850 w 6714269"/>
              <a:gd name="connsiteY13" fmla="*/ 5484180 h 6858000"/>
              <a:gd name="connsiteX14" fmla="*/ 211619 w 6714269"/>
              <a:gd name="connsiteY14" fmla="*/ 5517653 h 6858000"/>
              <a:gd name="connsiteX15" fmla="*/ 361778 w 6714269"/>
              <a:gd name="connsiteY15" fmla="*/ 6145524 h 6858000"/>
              <a:gd name="connsiteX16" fmla="*/ 591356 w 6714269"/>
              <a:gd name="connsiteY16" fmla="*/ 6843306 h 6858000"/>
              <a:gd name="connsiteX17" fmla="*/ 597415 w 6714269"/>
              <a:gd name="connsiteY17" fmla="*/ 6858000 h 6858000"/>
              <a:gd name="connsiteX18" fmla="*/ 545224 w 6714269"/>
              <a:gd name="connsiteY18" fmla="*/ 6858000 h 6858000"/>
              <a:gd name="connsiteX19" fmla="*/ 533604 w 6714269"/>
              <a:gd name="connsiteY19" fmla="*/ 6830072 h 6858000"/>
              <a:gd name="connsiteX20" fmla="*/ 169657 w 6714269"/>
              <a:gd name="connsiteY20" fmla="*/ 5556577 h 6858000"/>
              <a:gd name="connsiteX21" fmla="*/ 12169 w 6714269"/>
              <a:gd name="connsiteY21" fmla="*/ 4362835 h 6858000"/>
              <a:gd name="connsiteX22" fmla="*/ 46168 w 6714269"/>
              <a:gd name="connsiteY22" fmla="*/ 3338487 h 6858000"/>
              <a:gd name="connsiteX23" fmla="*/ 490574 w 6714269"/>
              <a:gd name="connsiteY23" fmla="*/ 1381078 h 6858000"/>
              <a:gd name="connsiteX24" fmla="*/ 984701 w 6714269"/>
              <a:gd name="connsiteY24" fmla="*/ 208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14269" h="6858000">
                <a:moveTo>
                  <a:pt x="1097203" y="0"/>
                </a:moveTo>
                <a:lnTo>
                  <a:pt x="1154155" y="0"/>
                </a:lnTo>
                <a:lnTo>
                  <a:pt x="972305" y="343212"/>
                </a:lnTo>
                <a:cubicBezTo>
                  <a:pt x="904739" y="480367"/>
                  <a:pt x="840941" y="619727"/>
                  <a:pt x="780524" y="761067"/>
                </a:cubicBezTo>
                <a:cubicBezTo>
                  <a:pt x="765737" y="795681"/>
                  <a:pt x="751579" y="830550"/>
                  <a:pt x="737045" y="865164"/>
                </a:cubicBezTo>
                <a:cubicBezTo>
                  <a:pt x="748306" y="856057"/>
                  <a:pt x="757014" y="844174"/>
                  <a:pt x="762322" y="830676"/>
                </a:cubicBezTo>
                <a:cubicBezTo>
                  <a:pt x="870201" y="600612"/>
                  <a:pt x="988539" y="376889"/>
                  <a:pt x="1118805" y="160440"/>
                </a:cubicBezTo>
                <a:lnTo>
                  <a:pt x="1221640" y="0"/>
                </a:lnTo>
                <a:lnTo>
                  <a:pt x="6714269" y="0"/>
                </a:lnTo>
                <a:lnTo>
                  <a:pt x="6714269" y="6858000"/>
                </a:lnTo>
                <a:lnTo>
                  <a:pt x="704817" y="6858000"/>
                </a:lnTo>
                <a:lnTo>
                  <a:pt x="618717" y="6672538"/>
                </a:lnTo>
                <a:cubicBezTo>
                  <a:pt x="501618" y="6400947"/>
                  <a:pt x="398622" y="6121213"/>
                  <a:pt x="309324" y="5833618"/>
                </a:cubicBezTo>
                <a:cubicBezTo>
                  <a:pt x="275071" y="5723183"/>
                  <a:pt x="246125" y="5611225"/>
                  <a:pt x="209850" y="5484180"/>
                </a:cubicBezTo>
                <a:cubicBezTo>
                  <a:pt x="209859" y="5495363"/>
                  <a:pt x="210448" y="5506534"/>
                  <a:pt x="211619" y="5517653"/>
                </a:cubicBezTo>
                <a:cubicBezTo>
                  <a:pt x="261166" y="5727113"/>
                  <a:pt x="303888" y="5938474"/>
                  <a:pt x="361778" y="6145524"/>
                </a:cubicBezTo>
                <a:cubicBezTo>
                  <a:pt x="428356" y="6383258"/>
                  <a:pt x="504422" y="6616111"/>
                  <a:pt x="591356" y="6843306"/>
                </a:cubicBezTo>
                <a:lnTo>
                  <a:pt x="597415" y="6858000"/>
                </a:lnTo>
                <a:lnTo>
                  <a:pt x="545224" y="6858000"/>
                </a:lnTo>
                <a:lnTo>
                  <a:pt x="533604" y="6830072"/>
                </a:lnTo>
                <a:cubicBezTo>
                  <a:pt x="376384" y="6416985"/>
                  <a:pt x="257344" y="5991917"/>
                  <a:pt x="169657" y="5556577"/>
                </a:cubicBezTo>
                <a:cubicBezTo>
                  <a:pt x="90154" y="5162256"/>
                  <a:pt x="43261" y="4763750"/>
                  <a:pt x="12169" y="4362835"/>
                </a:cubicBezTo>
                <a:cubicBezTo>
                  <a:pt x="-14122" y="4019865"/>
                  <a:pt x="4458" y="3679429"/>
                  <a:pt x="46168" y="3338487"/>
                </a:cubicBezTo>
                <a:cubicBezTo>
                  <a:pt x="125796" y="2672248"/>
                  <a:pt x="274744" y="2016203"/>
                  <a:pt x="490574" y="1381078"/>
                </a:cubicBezTo>
                <a:cubicBezTo>
                  <a:pt x="629230" y="976550"/>
                  <a:pt x="791584" y="584320"/>
                  <a:pt x="984701" y="208241"/>
                </a:cubicBezTo>
                <a:close/>
              </a:path>
            </a:pathLst>
          </a:custGeom>
          <a:solidFill>
            <a:schemeClr val="accent1"/>
          </a:solidFill>
          <a:ln w="6857" cap="flat">
            <a:noFill/>
            <a:prstDash val="solid"/>
            <a:miter/>
          </a:ln>
        </p:spPr>
        <p:txBody>
          <a:bodyPr wrap="square" rtlCol="0" anchor="ctr">
            <a:noAutofit/>
          </a:bodyPr>
          <a:lstStyle/>
          <a:p>
            <a:endParaRPr lang="en-US"/>
          </a:p>
        </p:txBody>
      </p:sp>
      <p:sp>
        <p:nvSpPr>
          <p:cNvPr id="3" name="Content Placeholder 2">
            <a:extLst>
              <a:ext uri="{FF2B5EF4-FFF2-40B4-BE49-F238E27FC236}">
                <a16:creationId xmlns:a16="http://schemas.microsoft.com/office/drawing/2014/main" id="{85078900-73E2-4BE3-91E8-09A67B72C45F}"/>
              </a:ext>
            </a:extLst>
          </p:cNvPr>
          <p:cNvSpPr>
            <a:spLocks noGrp="1"/>
          </p:cNvSpPr>
          <p:nvPr>
            <p:ph idx="1"/>
          </p:nvPr>
        </p:nvSpPr>
        <p:spPr>
          <a:xfrm>
            <a:off x="6365404" y="644652"/>
            <a:ext cx="4985348" cy="5568695"/>
          </a:xfrm>
        </p:spPr>
        <p:txBody>
          <a:bodyPr anchor="ctr">
            <a:normAutofit/>
          </a:bodyPr>
          <a:lstStyle/>
          <a:p>
            <a:r>
              <a:rPr lang="en-US" dirty="0">
                <a:solidFill>
                  <a:srgbClr val="FFFFFF"/>
                </a:solidFill>
              </a:rPr>
              <a:t>To break the enemies of the church.</a:t>
            </a:r>
          </a:p>
          <a:p>
            <a:pPr lvl="1"/>
            <a:r>
              <a:rPr lang="en-US" sz="2800" dirty="0">
                <a:solidFill>
                  <a:srgbClr val="FFFFFF"/>
                </a:solidFill>
              </a:rPr>
              <a:t>Is not my word like as a fire? saith the LORD; and like a hammer that </a:t>
            </a:r>
            <a:r>
              <a:rPr lang="en-US" sz="2800" dirty="0" err="1">
                <a:solidFill>
                  <a:srgbClr val="FFFFFF"/>
                </a:solidFill>
              </a:rPr>
              <a:t>breaketh</a:t>
            </a:r>
            <a:r>
              <a:rPr lang="en-US" sz="2800" dirty="0">
                <a:solidFill>
                  <a:srgbClr val="FFFFFF"/>
                </a:solidFill>
              </a:rPr>
              <a:t> the rock in pieces? (</a:t>
            </a:r>
            <a:r>
              <a:rPr lang="en-US" sz="2800" dirty="0" err="1">
                <a:solidFill>
                  <a:srgbClr val="FFFFFF"/>
                </a:solidFill>
              </a:rPr>
              <a:t>Jer</a:t>
            </a:r>
            <a:r>
              <a:rPr lang="en-US" sz="2800" dirty="0">
                <a:solidFill>
                  <a:srgbClr val="FFFFFF"/>
                </a:solidFill>
              </a:rPr>
              <a:t> 23:29 KJV)</a:t>
            </a:r>
          </a:p>
          <a:p>
            <a:pPr lvl="1"/>
            <a:r>
              <a:rPr lang="en-US" sz="2800" dirty="0">
                <a:solidFill>
                  <a:srgbClr val="FFFFFF"/>
                </a:solidFill>
              </a:rPr>
              <a:t>But ye shall destroy their altars, break their images, and cut down their groves: (Exo 34:13 KJV)</a:t>
            </a:r>
          </a:p>
          <a:p>
            <a:pPr lvl="1"/>
            <a:r>
              <a:rPr lang="en-US" sz="2800" dirty="0">
                <a:solidFill>
                  <a:srgbClr val="FFFFFF"/>
                </a:solidFill>
              </a:rPr>
              <a:t>He shall break in pieces mighty men without number, and set others in their stead. (Job 34:24 KJV)</a:t>
            </a:r>
          </a:p>
          <a:p>
            <a:endParaRPr lang="en-US" dirty="0">
              <a:solidFill>
                <a:srgbClr val="FFFFFF"/>
              </a:solidFill>
            </a:endParaRPr>
          </a:p>
        </p:txBody>
      </p:sp>
    </p:spTree>
    <p:extLst>
      <p:ext uri="{BB962C8B-B14F-4D97-AF65-F5344CB8AC3E}">
        <p14:creationId xmlns:p14="http://schemas.microsoft.com/office/powerpoint/2010/main" val="731883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7CA949-C1D4-421D-89AA-2A0B28F10A12}"/>
              </a:ext>
            </a:extLst>
          </p:cNvPr>
          <p:cNvSpPr>
            <a:spLocks noGrp="1"/>
          </p:cNvSpPr>
          <p:nvPr>
            <p:ph type="title"/>
          </p:nvPr>
        </p:nvSpPr>
        <p:spPr>
          <a:xfrm>
            <a:off x="838200" y="365125"/>
            <a:ext cx="10515600" cy="1325563"/>
          </a:xfrm>
        </p:spPr>
        <p:txBody>
          <a:bodyPr>
            <a:normAutofit/>
          </a:bodyPr>
          <a:lstStyle/>
          <a:p>
            <a:pPr>
              <a:lnSpc>
                <a:spcPct val="90000"/>
              </a:lnSpc>
            </a:pPr>
            <a:r>
              <a:rPr lang="en-US" sz="4600"/>
              <a:t>A HAMMER TO BREAK (JER. 23:29)</a:t>
            </a:r>
          </a:p>
        </p:txBody>
      </p:sp>
      <p:sp>
        <p:nvSpPr>
          <p:cNvPr id="3" name="Content Placeholder 2">
            <a:extLst>
              <a:ext uri="{FF2B5EF4-FFF2-40B4-BE49-F238E27FC236}">
                <a16:creationId xmlns:a16="http://schemas.microsoft.com/office/drawing/2014/main" id="{85078900-73E2-4BE3-91E8-09A67B72C45F}"/>
              </a:ext>
            </a:extLst>
          </p:cNvPr>
          <p:cNvSpPr>
            <a:spLocks noGrp="1"/>
          </p:cNvSpPr>
          <p:nvPr>
            <p:ph idx="1"/>
          </p:nvPr>
        </p:nvSpPr>
        <p:spPr>
          <a:xfrm>
            <a:off x="838200" y="1929384"/>
            <a:ext cx="10515600" cy="4251960"/>
          </a:xfrm>
        </p:spPr>
        <p:txBody>
          <a:bodyPr>
            <a:normAutofit/>
          </a:bodyPr>
          <a:lstStyle/>
          <a:p>
            <a:r>
              <a:rPr lang="en-US" sz="2600" dirty="0"/>
              <a:t>To break down gates.</a:t>
            </a:r>
          </a:p>
          <a:p>
            <a:pPr lvl="1"/>
            <a:r>
              <a:rPr lang="en-US" sz="2600" dirty="0"/>
              <a:t>When Jesus came into the coasts of Caesarea Philippi, he asked his disciples, saying, Whom do men say that I the Son of man am? And they said, Some say that thou art John the Baptist: some, Elias; and others, Jeremias, or one of the prophets. He saith unto them, But whom say ye that I am? And Simon Peter answered and said, Thou art the Christ, the Son of the living God. And Jesus answered and said unto him, Blessed art thou, Simon </a:t>
            </a:r>
            <a:r>
              <a:rPr lang="en-US" sz="2600" dirty="0" err="1"/>
              <a:t>Barjona</a:t>
            </a:r>
            <a:r>
              <a:rPr lang="en-US" sz="2600" dirty="0"/>
              <a:t>: for flesh and blood hath not revealed it unto thee, but my Father which is in heaven. And I say also unto thee, That thou art Peter, and upon this rock I will build my church; and the gates of hell shall not prevail against it. And I will give unto thee the keys of the kingdom of heaven: and whatsoever thou shalt bind on earth shall be bound in heaven: and whatsoever thou shalt loose on earth shall be loosed in heaven. Then charged he his disciples that they should tell no man that he was Jesus the Christ. (Mat 16:13-20 KJV)</a:t>
            </a:r>
          </a:p>
          <a:p>
            <a:pPr marL="0" indent="0">
              <a:buNone/>
            </a:pPr>
            <a:endParaRPr lang="en-US" dirty="0"/>
          </a:p>
        </p:txBody>
      </p:sp>
    </p:spTree>
    <p:extLst>
      <p:ext uri="{BB962C8B-B14F-4D97-AF65-F5344CB8AC3E}">
        <p14:creationId xmlns:p14="http://schemas.microsoft.com/office/powerpoint/2010/main" val="2844402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7CA949-C1D4-421D-89AA-2A0B28F10A12}"/>
              </a:ext>
            </a:extLst>
          </p:cNvPr>
          <p:cNvSpPr>
            <a:spLocks noGrp="1"/>
          </p:cNvSpPr>
          <p:nvPr>
            <p:ph type="title"/>
          </p:nvPr>
        </p:nvSpPr>
        <p:spPr>
          <a:xfrm>
            <a:off x="838200" y="365125"/>
            <a:ext cx="10515600" cy="1325563"/>
          </a:xfrm>
        </p:spPr>
        <p:txBody>
          <a:bodyPr>
            <a:normAutofit/>
          </a:bodyPr>
          <a:lstStyle/>
          <a:p>
            <a:pPr>
              <a:lnSpc>
                <a:spcPct val="90000"/>
              </a:lnSpc>
            </a:pPr>
            <a:r>
              <a:rPr lang="en-US" sz="4600"/>
              <a:t>A HAMMER TO BREAK (JER. 23:29)</a:t>
            </a:r>
          </a:p>
        </p:txBody>
      </p:sp>
      <p:sp>
        <p:nvSpPr>
          <p:cNvPr id="3" name="Content Placeholder 2">
            <a:extLst>
              <a:ext uri="{FF2B5EF4-FFF2-40B4-BE49-F238E27FC236}">
                <a16:creationId xmlns:a16="http://schemas.microsoft.com/office/drawing/2014/main" id="{85078900-73E2-4BE3-91E8-09A67B72C45F}"/>
              </a:ext>
            </a:extLst>
          </p:cNvPr>
          <p:cNvSpPr>
            <a:spLocks noGrp="1"/>
          </p:cNvSpPr>
          <p:nvPr>
            <p:ph idx="1"/>
          </p:nvPr>
        </p:nvSpPr>
        <p:spPr>
          <a:xfrm>
            <a:off x="838200" y="1929384"/>
            <a:ext cx="10515600" cy="4251960"/>
          </a:xfrm>
        </p:spPr>
        <p:txBody>
          <a:bodyPr>
            <a:normAutofit/>
          </a:bodyPr>
          <a:lstStyle/>
          <a:p>
            <a:r>
              <a:rPr lang="en-US" sz="4400" dirty="0"/>
              <a:t>To break pride.</a:t>
            </a:r>
          </a:p>
          <a:p>
            <a:pPr lvl="1"/>
            <a:r>
              <a:rPr lang="en-US" sz="4400" dirty="0"/>
              <a:t>And I will break the pride of your power; and I will make your heaven as iron, and your earth as brass:  (Lev 26:19 KJV)</a:t>
            </a:r>
          </a:p>
          <a:p>
            <a:pPr marL="457200" lvl="1" indent="0">
              <a:buNone/>
            </a:pPr>
            <a:endParaRPr lang="en-US" dirty="0"/>
          </a:p>
          <a:p>
            <a:endParaRPr lang="en-US" dirty="0"/>
          </a:p>
        </p:txBody>
      </p:sp>
    </p:spTree>
    <p:extLst>
      <p:ext uri="{BB962C8B-B14F-4D97-AF65-F5344CB8AC3E}">
        <p14:creationId xmlns:p14="http://schemas.microsoft.com/office/powerpoint/2010/main" val="585930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C32DF3D-3F59-481D-A237-77C31AD49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7CA949-C1D4-421D-89AA-2A0B28F10A12}"/>
              </a:ext>
            </a:extLst>
          </p:cNvPr>
          <p:cNvSpPr>
            <a:spLocks noGrp="1"/>
          </p:cNvSpPr>
          <p:nvPr>
            <p:ph type="title"/>
          </p:nvPr>
        </p:nvSpPr>
        <p:spPr>
          <a:xfrm>
            <a:off x="841248" y="643467"/>
            <a:ext cx="3840480" cy="5571066"/>
          </a:xfrm>
        </p:spPr>
        <p:txBody>
          <a:bodyPr anchor="ctr">
            <a:normAutofit/>
          </a:bodyPr>
          <a:lstStyle/>
          <a:p>
            <a:r>
              <a:rPr lang="en-US" sz="6600">
                <a:solidFill>
                  <a:schemeClr val="accent1"/>
                </a:solidFill>
              </a:rPr>
              <a:t>A LAMP TO SHINE (PS. 119:105)</a:t>
            </a:r>
            <a:br>
              <a:rPr lang="en-US" sz="6600">
                <a:solidFill>
                  <a:schemeClr val="accent1"/>
                </a:solidFill>
              </a:rPr>
            </a:br>
            <a:endParaRPr lang="en-US" sz="6600">
              <a:solidFill>
                <a:schemeClr val="accent1"/>
              </a:solidFill>
            </a:endParaRPr>
          </a:p>
        </p:txBody>
      </p:sp>
      <p:sp>
        <p:nvSpPr>
          <p:cNvPr id="17" name="Freeform: Shape 16">
            <a:extLst>
              <a:ext uri="{FF2B5EF4-FFF2-40B4-BE49-F238E27FC236}">
                <a16:creationId xmlns:a16="http://schemas.microsoft.com/office/drawing/2014/main" id="{32F02326-30C4-4095-988F-932A425AE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39686" y="0"/>
            <a:ext cx="7152315" cy="6858000"/>
          </a:xfrm>
          <a:custGeom>
            <a:avLst/>
            <a:gdLst>
              <a:gd name="connsiteX0" fmla="*/ 17101 w 7152315"/>
              <a:gd name="connsiteY0" fmla="*/ 0 h 6858000"/>
              <a:gd name="connsiteX1" fmla="*/ 7152315 w 7152315"/>
              <a:gd name="connsiteY1" fmla="*/ 0 h 6858000"/>
              <a:gd name="connsiteX2" fmla="*/ 7152315 w 7152315"/>
              <a:gd name="connsiteY2" fmla="*/ 6858000 h 6858000"/>
              <a:gd name="connsiteX3" fmla="*/ 15999 w 7152315"/>
              <a:gd name="connsiteY3" fmla="*/ 6858000 h 6858000"/>
              <a:gd name="connsiteX4" fmla="*/ 9729 w 7152315"/>
              <a:gd name="connsiteY4" fmla="*/ 6734157 h 6858000"/>
              <a:gd name="connsiteX5" fmla="*/ 15819 w 7152315"/>
              <a:gd name="connsiteY5" fmla="*/ 6122264 h 6858000"/>
              <a:gd name="connsiteX6" fmla="*/ 11379 w 7152315"/>
              <a:gd name="connsiteY6" fmla="*/ 5614784 h 6858000"/>
              <a:gd name="connsiteX7" fmla="*/ 20006 w 7152315"/>
              <a:gd name="connsiteY7" fmla="*/ 5204359 h 6858000"/>
              <a:gd name="connsiteX8" fmla="*/ 16962 w 7152315"/>
              <a:gd name="connsiteY8" fmla="*/ 4811696 h 6858000"/>
              <a:gd name="connsiteX9" fmla="*/ 13409 w 7152315"/>
              <a:gd name="connsiteY9" fmla="*/ 4358135 h 6858000"/>
              <a:gd name="connsiteX10" fmla="*/ 12774 w 7152315"/>
              <a:gd name="connsiteY10" fmla="*/ 4038423 h 6858000"/>
              <a:gd name="connsiteX11" fmla="*/ 10110 w 7152315"/>
              <a:gd name="connsiteY11" fmla="*/ 3630663 h 6858000"/>
              <a:gd name="connsiteX12" fmla="*/ 16581 w 7152315"/>
              <a:gd name="connsiteY12" fmla="*/ 3275427 h 6858000"/>
              <a:gd name="connsiteX13" fmla="*/ 27872 w 7152315"/>
              <a:gd name="connsiteY13" fmla="*/ 2871219 h 6858000"/>
              <a:gd name="connsiteX14" fmla="*/ 17596 w 7152315"/>
              <a:gd name="connsiteY14" fmla="*/ 2235600 h 6858000"/>
              <a:gd name="connsiteX15" fmla="*/ 14170 w 7152315"/>
              <a:gd name="connsiteY15" fmla="*/ 1894827 h 6858000"/>
              <a:gd name="connsiteX16" fmla="*/ 11632 w 7152315"/>
              <a:gd name="connsiteY16" fmla="*/ 1603026 h 6858000"/>
              <a:gd name="connsiteX17" fmla="*/ 14551 w 7152315"/>
              <a:gd name="connsiteY17" fmla="*/ 1307799 h 6858000"/>
              <a:gd name="connsiteX18" fmla="*/ 14551 w 7152315"/>
              <a:gd name="connsiteY18" fmla="*/ 887733 h 6858000"/>
              <a:gd name="connsiteX19" fmla="*/ 849 w 7152315"/>
              <a:gd name="connsiteY19" fmla="*/ 349169 h 6858000"/>
              <a:gd name="connsiteX20" fmla="*/ 1404 w 7152315"/>
              <a:gd name="connsiteY20" fmla="*/ 1605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52315" h="6858000">
                <a:moveTo>
                  <a:pt x="17101" y="0"/>
                </a:moveTo>
                <a:lnTo>
                  <a:pt x="7152315" y="0"/>
                </a:lnTo>
                <a:lnTo>
                  <a:pt x="7152315" y="6858000"/>
                </a:lnTo>
                <a:lnTo>
                  <a:pt x="15999" y="6858000"/>
                </a:lnTo>
                <a:lnTo>
                  <a:pt x="9729" y="6734157"/>
                </a:lnTo>
                <a:cubicBezTo>
                  <a:pt x="5924" y="6530150"/>
                  <a:pt x="12521" y="6326271"/>
                  <a:pt x="15819" y="6122264"/>
                </a:cubicBezTo>
                <a:cubicBezTo>
                  <a:pt x="18484" y="5952766"/>
                  <a:pt x="-1689" y="5783013"/>
                  <a:pt x="11379" y="5614784"/>
                </a:cubicBezTo>
                <a:cubicBezTo>
                  <a:pt x="22112" y="5478259"/>
                  <a:pt x="24992" y="5341214"/>
                  <a:pt x="20006" y="5204359"/>
                </a:cubicBezTo>
                <a:cubicBezTo>
                  <a:pt x="14932" y="5073429"/>
                  <a:pt x="13917" y="4942537"/>
                  <a:pt x="16962" y="4811696"/>
                </a:cubicBezTo>
                <a:cubicBezTo>
                  <a:pt x="20640" y="4660467"/>
                  <a:pt x="16962" y="4509238"/>
                  <a:pt x="13409" y="4358135"/>
                </a:cubicBezTo>
                <a:cubicBezTo>
                  <a:pt x="10872" y="4251565"/>
                  <a:pt x="10998" y="4144994"/>
                  <a:pt x="12774" y="4038423"/>
                </a:cubicBezTo>
                <a:cubicBezTo>
                  <a:pt x="15185" y="3902545"/>
                  <a:pt x="19879" y="3766540"/>
                  <a:pt x="10110" y="3630663"/>
                </a:cubicBezTo>
                <a:cubicBezTo>
                  <a:pt x="1178" y="3512306"/>
                  <a:pt x="3347" y="3393378"/>
                  <a:pt x="16581" y="3275427"/>
                </a:cubicBezTo>
                <a:cubicBezTo>
                  <a:pt x="33403" y="3141377"/>
                  <a:pt x="37183" y="3006006"/>
                  <a:pt x="27872" y="2871219"/>
                </a:cubicBezTo>
                <a:cubicBezTo>
                  <a:pt x="11315" y="2659765"/>
                  <a:pt x="7890" y="2447486"/>
                  <a:pt x="17596" y="2235600"/>
                </a:cubicBezTo>
                <a:cubicBezTo>
                  <a:pt x="22797" y="2122038"/>
                  <a:pt x="21655" y="2008261"/>
                  <a:pt x="14170" y="1894827"/>
                </a:cubicBezTo>
                <a:cubicBezTo>
                  <a:pt x="8144" y="1797670"/>
                  <a:pt x="7294" y="1700272"/>
                  <a:pt x="11632" y="1603026"/>
                </a:cubicBezTo>
                <a:cubicBezTo>
                  <a:pt x="15566" y="1504575"/>
                  <a:pt x="17215" y="1406124"/>
                  <a:pt x="14551" y="1307799"/>
                </a:cubicBezTo>
                <a:cubicBezTo>
                  <a:pt x="10872" y="1168242"/>
                  <a:pt x="10110" y="1027798"/>
                  <a:pt x="14551" y="887733"/>
                </a:cubicBezTo>
                <a:cubicBezTo>
                  <a:pt x="20894" y="708085"/>
                  <a:pt x="3132" y="528817"/>
                  <a:pt x="849" y="349169"/>
                </a:cubicBezTo>
                <a:cubicBezTo>
                  <a:pt x="24" y="286241"/>
                  <a:pt x="-769" y="223346"/>
                  <a:pt x="1404" y="16059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5078900-73E2-4BE3-91E8-09A67B72C45F}"/>
              </a:ext>
            </a:extLst>
          </p:cNvPr>
          <p:cNvSpPr>
            <a:spLocks noGrp="1"/>
          </p:cNvSpPr>
          <p:nvPr>
            <p:ph idx="1"/>
          </p:nvPr>
        </p:nvSpPr>
        <p:spPr>
          <a:xfrm>
            <a:off x="5568696" y="643467"/>
            <a:ext cx="5788152" cy="5571066"/>
          </a:xfrm>
        </p:spPr>
        <p:txBody>
          <a:bodyPr anchor="ctr">
            <a:normAutofit/>
          </a:bodyPr>
          <a:lstStyle/>
          <a:p>
            <a:r>
              <a:rPr lang="en-US" dirty="0">
                <a:solidFill>
                  <a:schemeClr val="bg1"/>
                </a:solidFill>
              </a:rPr>
              <a:t> </a:t>
            </a:r>
            <a:r>
              <a:rPr lang="en-US" sz="3600" dirty="0">
                <a:solidFill>
                  <a:schemeClr val="bg1"/>
                </a:solidFill>
              </a:rPr>
              <a:t>To shine in the darkness.</a:t>
            </a:r>
          </a:p>
          <a:p>
            <a:pPr lvl="1"/>
            <a:r>
              <a:rPr lang="en-US" sz="3600" dirty="0">
                <a:solidFill>
                  <a:schemeClr val="bg1"/>
                </a:solidFill>
              </a:rPr>
              <a:t> NUN. Thy word is a lamp unto my feet, and a light unto my path. (</a:t>
            </a:r>
            <a:r>
              <a:rPr lang="en-US" sz="3600" dirty="0" err="1">
                <a:solidFill>
                  <a:schemeClr val="bg1"/>
                </a:solidFill>
              </a:rPr>
              <a:t>Psa</a:t>
            </a:r>
            <a:r>
              <a:rPr lang="en-US" sz="3600" dirty="0">
                <a:solidFill>
                  <a:schemeClr val="bg1"/>
                </a:solidFill>
              </a:rPr>
              <a:t> 119:105 KJV)</a:t>
            </a:r>
          </a:p>
          <a:p>
            <a:pPr marL="0" indent="0">
              <a:buNone/>
            </a:pP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2904228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7CA949-C1D4-421D-89AA-2A0B28F10A12}"/>
              </a:ext>
            </a:extLst>
          </p:cNvPr>
          <p:cNvSpPr>
            <a:spLocks noGrp="1"/>
          </p:cNvSpPr>
          <p:nvPr>
            <p:ph type="title"/>
          </p:nvPr>
        </p:nvSpPr>
        <p:spPr>
          <a:xfrm>
            <a:off x="838200" y="365125"/>
            <a:ext cx="10515600" cy="1325563"/>
          </a:xfrm>
        </p:spPr>
        <p:txBody>
          <a:bodyPr>
            <a:normAutofit fontScale="90000"/>
          </a:bodyPr>
          <a:lstStyle/>
          <a:p>
            <a:pPr>
              <a:lnSpc>
                <a:spcPct val="90000"/>
              </a:lnSpc>
            </a:pPr>
            <a:r>
              <a:rPr lang="en-US" sz="4600" dirty="0"/>
              <a:t>A LAMP TO SHINE (PS. 119:105)</a:t>
            </a:r>
            <a:br>
              <a:rPr lang="en-US" sz="4600" dirty="0"/>
            </a:br>
            <a:endParaRPr lang="en-US" sz="4600" dirty="0"/>
          </a:p>
        </p:txBody>
      </p:sp>
      <p:sp>
        <p:nvSpPr>
          <p:cNvPr id="3" name="Content Placeholder 2">
            <a:extLst>
              <a:ext uri="{FF2B5EF4-FFF2-40B4-BE49-F238E27FC236}">
                <a16:creationId xmlns:a16="http://schemas.microsoft.com/office/drawing/2014/main" id="{85078900-73E2-4BE3-91E8-09A67B72C45F}"/>
              </a:ext>
            </a:extLst>
          </p:cNvPr>
          <p:cNvSpPr>
            <a:spLocks noGrp="1"/>
          </p:cNvSpPr>
          <p:nvPr>
            <p:ph idx="1"/>
          </p:nvPr>
        </p:nvSpPr>
        <p:spPr>
          <a:xfrm>
            <a:off x="838200" y="1929384"/>
            <a:ext cx="10515600" cy="4251960"/>
          </a:xfrm>
        </p:spPr>
        <p:txBody>
          <a:bodyPr>
            <a:normAutofit/>
          </a:bodyPr>
          <a:lstStyle/>
          <a:p>
            <a:r>
              <a:rPr lang="en-US" sz="4400" dirty="0"/>
              <a:t> To shine on every false practice.</a:t>
            </a:r>
          </a:p>
          <a:p>
            <a:pPr marL="0" indent="0">
              <a:buNone/>
            </a:pPr>
            <a:endParaRPr lang="en-US" dirty="0"/>
          </a:p>
          <a:p>
            <a:endParaRPr lang="en-US" dirty="0"/>
          </a:p>
        </p:txBody>
      </p:sp>
    </p:spTree>
    <p:extLst>
      <p:ext uri="{BB962C8B-B14F-4D97-AF65-F5344CB8AC3E}">
        <p14:creationId xmlns:p14="http://schemas.microsoft.com/office/powerpoint/2010/main" val="1200763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7CA949-C1D4-421D-89AA-2A0B28F10A12}"/>
              </a:ext>
            </a:extLst>
          </p:cNvPr>
          <p:cNvSpPr>
            <a:spLocks noGrp="1"/>
          </p:cNvSpPr>
          <p:nvPr>
            <p:ph type="title"/>
          </p:nvPr>
        </p:nvSpPr>
        <p:spPr>
          <a:xfrm>
            <a:off x="838200" y="365125"/>
            <a:ext cx="10515600" cy="1325563"/>
          </a:xfrm>
        </p:spPr>
        <p:txBody>
          <a:bodyPr>
            <a:normAutofit fontScale="90000"/>
          </a:bodyPr>
          <a:lstStyle/>
          <a:p>
            <a:pPr>
              <a:lnSpc>
                <a:spcPct val="90000"/>
              </a:lnSpc>
            </a:pPr>
            <a:r>
              <a:rPr lang="en-US" sz="4600" dirty="0"/>
              <a:t>A LAMP TO SHINE (PS. 119:105)</a:t>
            </a:r>
            <a:br>
              <a:rPr lang="en-US" sz="4600" dirty="0"/>
            </a:br>
            <a:endParaRPr lang="en-US" sz="4600" dirty="0"/>
          </a:p>
        </p:txBody>
      </p:sp>
      <p:sp>
        <p:nvSpPr>
          <p:cNvPr id="3" name="Content Placeholder 2">
            <a:extLst>
              <a:ext uri="{FF2B5EF4-FFF2-40B4-BE49-F238E27FC236}">
                <a16:creationId xmlns:a16="http://schemas.microsoft.com/office/drawing/2014/main" id="{85078900-73E2-4BE3-91E8-09A67B72C45F}"/>
              </a:ext>
            </a:extLst>
          </p:cNvPr>
          <p:cNvSpPr>
            <a:spLocks noGrp="1"/>
          </p:cNvSpPr>
          <p:nvPr>
            <p:ph idx="1"/>
          </p:nvPr>
        </p:nvSpPr>
        <p:spPr>
          <a:xfrm>
            <a:off x="838200" y="1929384"/>
            <a:ext cx="10515600" cy="4251960"/>
          </a:xfrm>
        </p:spPr>
        <p:txBody>
          <a:bodyPr>
            <a:normAutofit/>
          </a:bodyPr>
          <a:lstStyle/>
          <a:p>
            <a:r>
              <a:rPr lang="en-US" sz="4400" dirty="0"/>
              <a:t> To shine on the character of Christ.</a:t>
            </a:r>
          </a:p>
          <a:p>
            <a:pPr marL="457200" lvl="1" indent="0">
              <a:buNone/>
            </a:pPr>
            <a:endParaRPr lang="en-US" dirty="0"/>
          </a:p>
          <a:p>
            <a:endParaRPr lang="en-US" dirty="0"/>
          </a:p>
        </p:txBody>
      </p:sp>
    </p:spTree>
    <p:extLst>
      <p:ext uri="{BB962C8B-B14F-4D97-AF65-F5344CB8AC3E}">
        <p14:creationId xmlns:p14="http://schemas.microsoft.com/office/powerpoint/2010/main" val="2516794029"/>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3009</Words>
  <Application>Microsoft Office PowerPoint</Application>
  <PresentationFormat>Widescreen</PresentationFormat>
  <Paragraphs>147</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Modern Love</vt:lpstr>
      <vt:lpstr>The Hand</vt:lpstr>
      <vt:lpstr>SketchyVTI</vt:lpstr>
      <vt:lpstr>7 FIGURES OF THE WORD OF GOD</vt:lpstr>
      <vt:lpstr>A FIRE TO MELT (JER. 23:29)</vt:lpstr>
      <vt:lpstr>A FIRE TO MELT (JER. 23:29)</vt:lpstr>
      <vt:lpstr>A FIRE TO MELT (JER. 23:29)</vt:lpstr>
      <vt:lpstr>A HAMMER TO BREAK (JER. 23:29)</vt:lpstr>
      <vt:lpstr>A HAMMER TO BREAK (JER. 23:29)</vt:lpstr>
      <vt:lpstr>A HAMMER TO BREAK (JER. 23:29)</vt:lpstr>
      <vt:lpstr>A LAMP TO SHINE (PS. 119:105) </vt:lpstr>
      <vt:lpstr>A LAMP TO SHINE (PS. 119:105) </vt:lpstr>
      <vt:lpstr>A LAMP TO SHINE (PS. 119:105)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FIGURES OF THE WORD OF GOD</dc:title>
  <dc:creator>josh Hetrick</dc:creator>
  <cp:lastModifiedBy>josh</cp:lastModifiedBy>
  <cp:revision>1</cp:revision>
  <dcterms:created xsi:type="dcterms:W3CDTF">2021-07-17T21:39:07Z</dcterms:created>
  <dcterms:modified xsi:type="dcterms:W3CDTF">2021-07-23T20:17:26Z</dcterms:modified>
</cp:coreProperties>
</file>