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8" r:id="rId5"/>
    <p:sldId id="259" r:id="rId6"/>
    <p:sldId id="260" r:id="rId7"/>
    <p:sldId id="261"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dodd" userId="ec95a1bfe21f4366" providerId="LiveId" clId="{322E4B92-88DD-F24A-A48A-BC41159C7A50}"/>
    <pc:docChg chg="custSel modSld">
      <pc:chgData name="derek dodd" userId="ec95a1bfe21f4366" providerId="LiveId" clId="{322E4B92-88DD-F24A-A48A-BC41159C7A50}" dt="2022-03-05T16:33:11.347" v="50" actId="20577"/>
      <pc:docMkLst>
        <pc:docMk/>
      </pc:docMkLst>
      <pc:sldChg chg="modSp">
        <pc:chgData name="derek dodd" userId="ec95a1bfe21f4366" providerId="LiveId" clId="{322E4B92-88DD-F24A-A48A-BC41159C7A50}" dt="2022-03-05T16:33:11.347" v="50" actId="20577"/>
        <pc:sldMkLst>
          <pc:docMk/>
          <pc:sldMk cId="4218800840" sldId="256"/>
        </pc:sldMkLst>
        <pc:spChg chg="mod">
          <ac:chgData name="derek dodd" userId="ec95a1bfe21f4366" providerId="LiveId" clId="{322E4B92-88DD-F24A-A48A-BC41159C7A50}" dt="2022-03-05T16:33:11.347" v="50" actId="20577"/>
          <ac:spMkLst>
            <pc:docMk/>
            <pc:sldMk cId="4218800840" sldId="256"/>
            <ac:spMk id="2" creationId="{00000000-0000-0000-0000-000000000000}"/>
          </ac:spMkLst>
        </pc:spChg>
        <pc:spChg chg="mod">
          <ac:chgData name="derek dodd" userId="ec95a1bfe21f4366" providerId="LiveId" clId="{322E4B92-88DD-F24A-A48A-BC41159C7A50}" dt="2022-03-05T16:32:33.300" v="6" actId="20577"/>
          <ac:spMkLst>
            <pc:docMk/>
            <pc:sldMk cId="4218800840" sldId="256"/>
            <ac:spMk id="3" creationId="{00000000-0000-0000-0000-000000000000}"/>
          </ac:spMkLst>
        </pc:spChg>
      </pc:sldChg>
    </pc:docChg>
  </pc:docChgLst>
  <pc:docChgLst>
    <pc:chgData name="derek dodd" userId="ec95a1bfe21f4366" providerId="LiveId" clId="{A2708927-4F05-4A44-9255-1212828D5E53}"/>
    <pc:docChg chg="custSel modSld">
      <pc:chgData name="derek dodd" userId="ec95a1bfe21f4366" providerId="LiveId" clId="{A2708927-4F05-4A44-9255-1212828D5E53}" dt="2022-03-07T21:09:11.992" v="176" actId="20577"/>
      <pc:docMkLst>
        <pc:docMk/>
      </pc:docMkLst>
      <pc:sldChg chg="modSp mod">
        <pc:chgData name="derek dodd" userId="ec95a1bfe21f4366" providerId="LiveId" clId="{A2708927-4F05-4A44-9255-1212828D5E53}" dt="2022-03-07T21:05:49.154" v="0" actId="12788"/>
        <pc:sldMkLst>
          <pc:docMk/>
          <pc:sldMk cId="4218800840" sldId="256"/>
        </pc:sldMkLst>
        <pc:spChg chg="mod">
          <ac:chgData name="derek dodd" userId="ec95a1bfe21f4366" providerId="LiveId" clId="{A2708927-4F05-4A44-9255-1212828D5E53}" dt="2022-03-07T21:05:49.154" v="0" actId="12788"/>
          <ac:spMkLst>
            <pc:docMk/>
            <pc:sldMk cId="4218800840" sldId="256"/>
            <ac:spMk id="3" creationId="{00000000-0000-0000-0000-000000000000}"/>
          </ac:spMkLst>
        </pc:spChg>
      </pc:sldChg>
      <pc:sldChg chg="modSp mod">
        <pc:chgData name="derek dodd" userId="ec95a1bfe21f4366" providerId="LiveId" clId="{A2708927-4F05-4A44-9255-1212828D5E53}" dt="2022-03-07T21:09:11.992" v="176" actId="20577"/>
        <pc:sldMkLst>
          <pc:docMk/>
          <pc:sldMk cId="3393089972" sldId="257"/>
        </pc:sldMkLst>
        <pc:spChg chg="mod">
          <ac:chgData name="derek dodd" userId="ec95a1bfe21f4366" providerId="LiveId" clId="{A2708927-4F05-4A44-9255-1212828D5E53}" dt="2022-03-07T21:09:11.992" v="176" actId="20577"/>
          <ac:spMkLst>
            <pc:docMk/>
            <pc:sldMk cId="3393089972" sldId="25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43F675-BCB0-439B-8BED-5E5D53B27AE2}"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2249380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43F675-BCB0-439B-8BED-5E5D53B27AE2}"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416259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43F675-BCB0-439B-8BED-5E5D53B27AE2}"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735388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43F675-BCB0-439B-8BED-5E5D53B27AE2}"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238418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43F675-BCB0-439B-8BED-5E5D53B27AE2}" type="datetimeFigureOut">
              <a:rPr lang="en-US" smtClean="0"/>
              <a:t>3/7/2022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44321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43F675-BCB0-439B-8BED-5E5D53B27AE2}" type="datetimeFigureOut">
              <a:rPr lang="en-US" smtClean="0"/>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310992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3F675-BCB0-439B-8BED-5E5D53B27AE2}" type="datetimeFigureOut">
              <a:rPr lang="en-US" smtClean="0"/>
              <a:t>3/7/2022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941366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43F675-BCB0-439B-8BED-5E5D53B27AE2}"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2422885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43F675-BCB0-439B-8BED-5E5D53B27AE2}" type="datetimeFigureOut">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013856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43F675-BCB0-439B-8BED-5E5D53B27AE2}"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396903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43F675-BCB0-439B-8BED-5E5D53B27AE2}" type="datetimeFigureOut">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70DCD-6328-4BEB-A688-AF7C10A323A8}" type="slidenum">
              <a:rPr lang="en-US" smtClean="0"/>
              <a:t>‹#›</a:t>
            </a:fld>
            <a:endParaRPr lang="en-US"/>
          </a:p>
        </p:txBody>
      </p:sp>
    </p:spTree>
    <p:extLst>
      <p:ext uri="{BB962C8B-B14F-4D97-AF65-F5344CB8AC3E}">
        <p14:creationId xmlns:p14="http://schemas.microsoft.com/office/powerpoint/2010/main" val="66676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3F675-BCB0-439B-8BED-5E5D53B27AE2}" type="datetimeFigureOut">
              <a:rPr lang="en-US" smtClean="0"/>
              <a:t>3/7/2022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B70DCD-6328-4BEB-A688-AF7C10A323A8}" type="slidenum">
              <a:rPr lang="en-US" smtClean="0"/>
              <a:t>‹#›</a:t>
            </a:fld>
            <a:endParaRPr lang="en-US"/>
          </a:p>
        </p:txBody>
      </p:sp>
    </p:spTree>
    <p:extLst>
      <p:ext uri="{BB962C8B-B14F-4D97-AF65-F5344CB8AC3E}">
        <p14:creationId xmlns:p14="http://schemas.microsoft.com/office/powerpoint/2010/main" val="401911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877281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2990850"/>
          </a:xfrm>
        </p:spPr>
        <p:txBody>
          <a:bodyPr>
            <a:normAutofit fontScale="90000"/>
          </a:bodyPr>
          <a:lstStyle/>
          <a:p>
            <a:r>
              <a:rPr lang="en-US" sz="6000" dirty="0">
                <a:effectLst>
                  <a:outerShdw blurRad="38100" dist="38100" dir="2700000" algn="tl">
                    <a:srgbClr val="000000">
                      <a:alpha val="43137"/>
                    </a:srgbClr>
                  </a:outerShdw>
                </a:effectLst>
                <a:latin typeface="Papyrus" panose="03070502060502030205" pitchFamily="66" charset="0"/>
              </a:rPr>
              <a:t>JESUS IS </a:t>
            </a:r>
            <a:r>
              <a:rPr lang="en-US" sz="6000">
                <a:effectLst>
                  <a:outerShdw blurRad="38100" dist="38100" dir="2700000" algn="tl">
                    <a:srgbClr val="000000">
                      <a:alpha val="43137"/>
                    </a:srgbClr>
                  </a:outerShdw>
                </a:effectLst>
                <a:latin typeface="Papyrus" panose="03070502060502030205" pitchFamily="66" charset="0"/>
              </a:rPr>
              <a:t>SUPERIOR PRIEST TO MELCHESIDEK </a:t>
            </a:r>
            <a:endParaRPr lang="en-US" sz="6000" dirty="0">
              <a:effectLst>
                <a:outerShdw blurRad="38100" dist="38100" dir="2700000" algn="tl">
                  <a:srgbClr val="000000">
                    <a:alpha val="43137"/>
                  </a:srgbClr>
                </a:outerShdw>
              </a:effectLst>
              <a:latin typeface="Papyrus" panose="03070502060502030205" pitchFamily="66" charset="0"/>
            </a:endParaRPr>
          </a:p>
        </p:txBody>
      </p:sp>
      <p:sp>
        <p:nvSpPr>
          <p:cNvPr id="3" name="Subtitle 2"/>
          <p:cNvSpPr>
            <a:spLocks noGrp="1"/>
          </p:cNvSpPr>
          <p:nvPr>
            <p:ph type="subTitle" idx="1"/>
          </p:nvPr>
        </p:nvSpPr>
        <p:spPr>
          <a:xfrm>
            <a:off x="1371600" y="4790704"/>
            <a:ext cx="6400800" cy="838200"/>
          </a:xfrm>
        </p:spPr>
        <p:txBody>
          <a:bodyPr>
            <a:normAutofit/>
          </a:bodyPr>
          <a:lstStyle/>
          <a:p>
            <a:r>
              <a:rPr lang="en-US" sz="4000" dirty="0">
                <a:solidFill>
                  <a:schemeClr val="tx1"/>
                </a:solidFill>
                <a:effectLst>
                  <a:outerShdw blurRad="38100" dist="38100" dir="2700000" algn="tl">
                    <a:srgbClr val="000000">
                      <a:alpha val="43137"/>
                    </a:srgbClr>
                  </a:outerShdw>
                </a:effectLst>
              </a:rPr>
              <a:t>Heb 7</a:t>
            </a:r>
          </a:p>
        </p:txBody>
      </p:sp>
    </p:spTree>
    <p:extLst>
      <p:ext uri="{BB962C8B-B14F-4D97-AF65-F5344CB8AC3E}">
        <p14:creationId xmlns:p14="http://schemas.microsoft.com/office/powerpoint/2010/main" val="421880084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dirty="0">
                <a:effectLst>
                  <a:outerShdw blurRad="38100" dist="38100" dir="2700000" algn="tl">
                    <a:srgbClr val="000000">
                      <a:alpha val="43137"/>
                    </a:srgbClr>
                  </a:outerShdw>
                </a:effectLst>
              </a:rPr>
              <a:t>Introduction</a:t>
            </a:r>
            <a:r>
              <a:rPr lang="en-US" dirty="0">
                <a:effectLst>
                  <a:outerShdw blurRad="38100" dist="38100" dir="2700000" algn="tl">
                    <a:srgbClr val="000000">
                      <a:alpha val="43137"/>
                    </a:srgbClr>
                  </a:outerShdw>
                </a:effectLst>
              </a:rPr>
              <a:t> </a:t>
            </a:r>
          </a:p>
        </p:txBody>
      </p:sp>
      <p:sp>
        <p:nvSpPr>
          <p:cNvPr id="3" name="Content Placeholder 2"/>
          <p:cNvSpPr>
            <a:spLocks noGrp="1"/>
          </p:cNvSpPr>
          <p:nvPr>
            <p:ph idx="1"/>
          </p:nvPr>
        </p:nvSpPr>
        <p:spPr/>
        <p:txBody>
          <a:bodyPr>
            <a:normAutofit/>
          </a:bodyPr>
          <a:lstStyle/>
          <a:p>
            <a:r>
              <a:rPr lang="en-US" sz="3600" dirty="0">
                <a:effectLst>
                  <a:outerShdw blurRad="38100" dist="38100" dir="2700000" algn="tl">
                    <a:srgbClr val="000000">
                      <a:alpha val="43137"/>
                    </a:srgbClr>
                  </a:outerShdw>
                </a:effectLst>
              </a:rPr>
              <a:t>Chapters 1 – Jesus is superior to the prophets </a:t>
            </a:r>
          </a:p>
          <a:p>
            <a:r>
              <a:rPr lang="en-US" sz="3600" dirty="0">
                <a:effectLst>
                  <a:outerShdw blurRad="38100" dist="38100" dir="2700000" algn="tl">
                    <a:srgbClr val="000000">
                      <a:alpha val="43137"/>
                    </a:srgbClr>
                  </a:outerShdw>
                </a:effectLst>
              </a:rPr>
              <a:t>Chapter 2 – Jesus is superior to the angels and </a:t>
            </a:r>
            <a:r>
              <a:rPr lang="en-US" sz="3600">
                <a:effectLst>
                  <a:outerShdw blurRad="38100" dist="38100" dir="2700000" algn="tl">
                    <a:srgbClr val="000000">
                      <a:alpha val="43137"/>
                    </a:srgbClr>
                  </a:outerShdw>
                </a:effectLst>
              </a:rPr>
              <a:t>superior humanity</a:t>
            </a:r>
            <a:endParaRPr lang="en-US" sz="3600" dirty="0">
              <a:effectLst>
                <a:outerShdw blurRad="38100" dist="38100" dir="2700000" algn="tl">
                  <a:srgbClr val="000000">
                    <a:alpha val="43137"/>
                  </a:srgbClr>
                </a:outerShdw>
              </a:effectLst>
            </a:endParaRPr>
          </a:p>
          <a:p>
            <a:r>
              <a:rPr lang="en-US" sz="3600" dirty="0">
                <a:effectLst>
                  <a:outerShdw blurRad="38100" dist="38100" dir="2700000" algn="tl">
                    <a:srgbClr val="000000">
                      <a:alpha val="43137"/>
                    </a:srgbClr>
                  </a:outerShdw>
                </a:effectLst>
              </a:rPr>
              <a:t>Chapter 3 -  Jesus is superior to Moses</a:t>
            </a:r>
          </a:p>
          <a:p>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9308997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Considering Jesus (1)</a:t>
            </a:r>
          </a:p>
        </p:txBody>
      </p:sp>
      <p:sp>
        <p:nvSpPr>
          <p:cNvPr id="3" name="Content Placeholder 2"/>
          <p:cNvSpPr>
            <a:spLocks noGrp="1"/>
          </p:cNvSpPr>
          <p:nvPr>
            <p:ph idx="1"/>
          </p:nvPr>
        </p:nvSpPr>
        <p:spPr/>
        <p:txBody>
          <a:bodyPr>
            <a:normAutofit/>
          </a:bodyPr>
          <a:lstStyle/>
          <a:p>
            <a:r>
              <a:rPr lang="en-US" sz="3600" dirty="0">
                <a:effectLst>
                  <a:outerShdw blurRad="38100" dist="38100" dir="2700000" algn="tl">
                    <a:srgbClr val="000000">
                      <a:alpha val="43137"/>
                    </a:srgbClr>
                  </a:outerShdw>
                </a:effectLst>
              </a:rPr>
              <a:t>Called “holy brothers”</a:t>
            </a:r>
          </a:p>
          <a:p>
            <a:r>
              <a:rPr lang="en-US" sz="3600" dirty="0">
                <a:effectLst>
                  <a:outerShdw blurRad="38100" dist="38100" dir="2700000" algn="tl">
                    <a:srgbClr val="000000">
                      <a:alpha val="43137"/>
                    </a:srgbClr>
                  </a:outerShdw>
                </a:effectLst>
              </a:rPr>
              <a:t>Partakers of the “heavenly calling”</a:t>
            </a:r>
          </a:p>
          <a:p>
            <a:r>
              <a:rPr lang="en-US" sz="3600" dirty="0">
                <a:effectLst>
                  <a:outerShdw blurRad="38100" dist="38100" dir="2700000" algn="tl">
                    <a:srgbClr val="000000">
                      <a:alpha val="43137"/>
                    </a:srgbClr>
                  </a:outerShdw>
                </a:effectLst>
              </a:rPr>
              <a:t>2 Thess 2:13-14; 1 Thess 2:12</a:t>
            </a:r>
          </a:p>
          <a:p>
            <a:r>
              <a:rPr lang="en-US" sz="3600" dirty="0">
                <a:effectLst>
                  <a:outerShdw blurRad="38100" dist="38100" dir="2700000" algn="tl">
                    <a:srgbClr val="000000">
                      <a:alpha val="43137"/>
                    </a:srgbClr>
                  </a:outerShdw>
                </a:effectLst>
              </a:rPr>
              <a:t>Considering Jesus as Apostle and High Priest</a:t>
            </a:r>
          </a:p>
          <a:p>
            <a:pPr lvl="1"/>
            <a:r>
              <a:rPr lang="en-US" sz="3200" dirty="0">
                <a:effectLst>
                  <a:outerShdw blurRad="38100" dist="38100" dir="2700000" algn="tl">
                    <a:srgbClr val="000000">
                      <a:alpha val="43137"/>
                    </a:srgbClr>
                  </a:outerShdw>
                </a:effectLst>
              </a:rPr>
              <a:t>Apostle – Acts 3:22-26; Jn 7:16</a:t>
            </a:r>
          </a:p>
          <a:p>
            <a:pPr lvl="1"/>
            <a:r>
              <a:rPr lang="en-US" sz="3200" dirty="0">
                <a:effectLst>
                  <a:outerShdw blurRad="38100" dist="38100" dir="2700000" algn="tl">
                    <a:srgbClr val="000000">
                      <a:alpha val="43137"/>
                    </a:srgbClr>
                  </a:outerShdw>
                </a:effectLst>
              </a:rPr>
              <a:t>High priest  - Heb 2:17; 4:14; 7:24-28</a:t>
            </a:r>
          </a:p>
        </p:txBody>
      </p:sp>
    </p:spTree>
    <p:extLst>
      <p:ext uri="{BB962C8B-B14F-4D97-AF65-F5344CB8AC3E}">
        <p14:creationId xmlns:p14="http://schemas.microsoft.com/office/powerpoint/2010/main" val="159955903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rPr>
              <a:t>The House and the Builder (2-4)</a:t>
            </a:r>
          </a:p>
        </p:txBody>
      </p:sp>
      <p:sp>
        <p:nvSpPr>
          <p:cNvPr id="3" name="Content Placeholder 2"/>
          <p:cNvSpPr>
            <a:spLocks noGrp="1"/>
          </p:cNvSpPr>
          <p:nvPr>
            <p:ph idx="1"/>
          </p:nvPr>
        </p:nvSpPr>
        <p:spPr/>
        <p:txBody>
          <a:bodyPr/>
          <a:lstStyle/>
          <a:p>
            <a:r>
              <a:rPr lang="en-US" sz="3600" dirty="0">
                <a:effectLst>
                  <a:outerShdw blurRad="38100" dist="38100" dir="2700000" algn="tl">
                    <a:srgbClr val="000000">
                      <a:alpha val="43137"/>
                    </a:srgbClr>
                  </a:outerShdw>
                </a:effectLst>
              </a:rPr>
              <a:t>The faithfulness of Jesus and Moses to God who appointed them </a:t>
            </a:r>
            <a:r>
              <a:rPr lang="en-US" sz="3600" dirty="0" err="1">
                <a:effectLst>
                  <a:outerShdw blurRad="38100" dist="38100" dir="2700000" algn="tl">
                    <a:srgbClr val="000000">
                      <a:alpha val="43137"/>
                    </a:srgbClr>
                  </a:outerShdw>
                </a:effectLst>
              </a:rPr>
              <a:t>taskes</a:t>
            </a:r>
            <a:endParaRPr lang="en-US" sz="3600" dirty="0">
              <a:effectLst>
                <a:outerShdw blurRad="38100" dist="38100" dir="2700000" algn="tl">
                  <a:srgbClr val="000000">
                    <a:alpha val="43137"/>
                  </a:srgbClr>
                </a:outerShdw>
              </a:effectLst>
            </a:endParaRPr>
          </a:p>
          <a:p>
            <a:pPr lvl="1"/>
            <a:r>
              <a:rPr lang="en-US" sz="3200" dirty="0">
                <a:effectLst>
                  <a:outerShdw blurRad="38100" dist="38100" dir="2700000" algn="tl">
                    <a:srgbClr val="000000">
                      <a:alpha val="43137"/>
                    </a:srgbClr>
                  </a:outerShdw>
                </a:effectLst>
              </a:rPr>
              <a:t>Jn 17:4; </a:t>
            </a:r>
            <a:r>
              <a:rPr lang="en-US" sz="3200" dirty="0" err="1">
                <a:effectLst>
                  <a:outerShdw blurRad="38100" dist="38100" dir="2700000" algn="tl">
                    <a:srgbClr val="000000">
                      <a:alpha val="43137"/>
                    </a:srgbClr>
                  </a:outerShdw>
                </a:effectLst>
              </a:rPr>
              <a:t>Num</a:t>
            </a:r>
            <a:r>
              <a:rPr lang="en-US" sz="3200" dirty="0">
                <a:effectLst>
                  <a:outerShdw blurRad="38100" dist="38100" dir="2700000" algn="tl">
                    <a:srgbClr val="000000">
                      <a:alpha val="43137"/>
                    </a:srgbClr>
                  </a:outerShdw>
                </a:effectLst>
              </a:rPr>
              <a:t> 12:6-8</a:t>
            </a:r>
          </a:p>
          <a:p>
            <a:r>
              <a:rPr lang="en-US" sz="3600" dirty="0">
                <a:effectLst>
                  <a:outerShdw blurRad="38100" dist="38100" dir="2700000" algn="tl">
                    <a:srgbClr val="000000">
                      <a:alpha val="43137"/>
                    </a:srgbClr>
                  </a:outerShdw>
                </a:effectLst>
              </a:rPr>
              <a:t>Jesus is the builder/creator of the world   </a:t>
            </a:r>
          </a:p>
          <a:p>
            <a:pPr lvl="1"/>
            <a:r>
              <a:rPr lang="en-US" dirty="0">
                <a:effectLst>
                  <a:outerShdw blurRad="38100" dist="38100" dir="2700000" algn="tl">
                    <a:srgbClr val="000000">
                      <a:alpha val="43137"/>
                    </a:srgbClr>
                  </a:outerShdw>
                </a:effectLst>
              </a:rPr>
              <a:t> Jn 1:1-3</a:t>
            </a:r>
          </a:p>
          <a:p>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6320546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Jesus the greater Minister (5-6)</a:t>
            </a:r>
          </a:p>
        </p:txBody>
      </p:sp>
      <p:sp>
        <p:nvSpPr>
          <p:cNvPr id="3" name="Content Placeholder 2"/>
          <p:cNvSpPr>
            <a:spLocks noGrp="1"/>
          </p:cNvSpPr>
          <p:nvPr>
            <p:ph idx="1"/>
          </p:nvPr>
        </p:nvSpPr>
        <p:spPr/>
        <p:txBody>
          <a:bodyPr/>
          <a:lstStyle/>
          <a:p>
            <a:r>
              <a:rPr lang="en-US" dirty="0">
                <a:effectLst>
                  <a:outerShdw blurRad="38100" dist="38100" dir="2700000" algn="tl">
                    <a:srgbClr val="000000">
                      <a:alpha val="43137"/>
                    </a:srgbClr>
                  </a:outerShdw>
                </a:effectLst>
              </a:rPr>
              <a:t>Moses was a faithful servant</a:t>
            </a:r>
          </a:p>
          <a:p>
            <a:pPr lvl="1"/>
            <a:r>
              <a:rPr lang="en-US" dirty="0">
                <a:effectLst>
                  <a:outerShdw blurRad="38100" dist="38100" dir="2700000" algn="tl">
                    <a:srgbClr val="000000">
                      <a:alpha val="43137"/>
                    </a:srgbClr>
                  </a:outerShdw>
                </a:effectLst>
              </a:rPr>
              <a:t>Moses ministry was to testify of the Law to come Deut 18:15-19; Lk 24:44</a:t>
            </a:r>
          </a:p>
          <a:p>
            <a:pPr lvl="1"/>
            <a:r>
              <a:rPr lang="en-US" dirty="0">
                <a:effectLst>
                  <a:outerShdw blurRad="38100" dist="38100" dir="2700000" algn="tl">
                    <a:srgbClr val="000000">
                      <a:alpha val="43137"/>
                    </a:srgbClr>
                  </a:outerShdw>
                </a:effectLst>
              </a:rPr>
              <a:t>Moses was a servant in the house</a:t>
            </a:r>
          </a:p>
          <a:p>
            <a:r>
              <a:rPr lang="en-US" dirty="0">
                <a:effectLst>
                  <a:outerShdw blurRad="38100" dist="38100" dir="2700000" algn="tl">
                    <a:srgbClr val="000000">
                      <a:alpha val="43137"/>
                    </a:srgbClr>
                  </a:outerShdw>
                </a:effectLst>
              </a:rPr>
              <a:t>Jesus was a faithful son</a:t>
            </a:r>
          </a:p>
          <a:p>
            <a:pPr lvl="1"/>
            <a:r>
              <a:rPr lang="en-US" dirty="0">
                <a:effectLst>
                  <a:outerShdw blurRad="38100" dist="38100" dir="2700000" algn="tl">
                    <a:srgbClr val="000000">
                      <a:alpha val="43137"/>
                    </a:srgbClr>
                  </a:outerShdw>
                </a:effectLst>
              </a:rPr>
              <a:t>Jesus served in the house (Jn 17:4) </a:t>
            </a:r>
          </a:p>
          <a:p>
            <a:pPr lvl="1"/>
            <a:r>
              <a:rPr lang="en-US" dirty="0">
                <a:effectLst>
                  <a:outerShdw blurRad="38100" dist="38100" dir="2700000" algn="tl">
                    <a:srgbClr val="000000">
                      <a:alpha val="43137"/>
                    </a:srgbClr>
                  </a:outerShdw>
                </a:effectLst>
              </a:rPr>
              <a:t>but inherited the house (Mt 28:18; Jn 3:35; Eph 1:22)</a:t>
            </a:r>
          </a:p>
        </p:txBody>
      </p:sp>
    </p:spTree>
    <p:extLst>
      <p:ext uri="{BB962C8B-B14F-4D97-AF65-F5344CB8AC3E}">
        <p14:creationId xmlns:p14="http://schemas.microsoft.com/office/powerpoint/2010/main" val="25235976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4038600" cy="869950"/>
          </a:xfrm>
        </p:spPr>
        <p:txBody>
          <a:bodyPr>
            <a:normAutofit/>
          </a:bodyPr>
          <a:lstStyle/>
          <a:p>
            <a:r>
              <a:rPr lang="en-US" sz="4400" dirty="0">
                <a:effectLst>
                  <a:outerShdw blurRad="38100" dist="38100" dir="2700000" algn="tl">
                    <a:srgbClr val="000000">
                      <a:alpha val="43137"/>
                    </a:srgbClr>
                  </a:outerShdw>
                </a:effectLst>
              </a:rPr>
              <a:t>CLOSING</a:t>
            </a:r>
          </a:p>
        </p:txBody>
      </p:sp>
      <p:sp>
        <p:nvSpPr>
          <p:cNvPr id="4" name="Text Placeholder 3"/>
          <p:cNvSpPr>
            <a:spLocks noGrp="1"/>
          </p:cNvSpPr>
          <p:nvPr>
            <p:ph type="body" sz="half" idx="2"/>
          </p:nvPr>
        </p:nvSpPr>
        <p:spPr>
          <a:xfrm>
            <a:off x="457200" y="1143000"/>
            <a:ext cx="4038600" cy="5410200"/>
          </a:xfrm>
        </p:spPr>
        <p:txBody>
          <a:bodyPr>
            <a:normAutofit fontScale="25000" lnSpcReduction="20000"/>
          </a:bodyPr>
          <a:lstStyle/>
          <a:p>
            <a:r>
              <a:rPr lang="en-US" sz="12800" dirty="0">
                <a:effectLst>
                  <a:outerShdw blurRad="38100" dist="38100" dir="2700000" algn="tl">
                    <a:srgbClr val="000000">
                      <a:alpha val="43137"/>
                    </a:srgbClr>
                  </a:outerShdw>
                </a:effectLst>
              </a:rPr>
              <a:t>HEAR the word of God and BELIEVE that Jesus is the Messiah. CONFESS that you will follow and serve Him as your Lord. REPENT of the life of sin that He has set you free from and be BAPTIZED into Christ entering His Kingdom.</a:t>
            </a:r>
          </a:p>
          <a:p>
            <a:endParaRPr lang="en-US" dirty="0"/>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953000" y="228600"/>
            <a:ext cx="3733800" cy="6324599"/>
          </a:xfrm>
          <a:blipFill dpi="0" rotWithShape="1">
            <a:blip r:embed="rId3"/>
            <a:srcRect/>
            <a:stretch>
              <a:fillRect l="27000" t="21000"/>
            </a:stretch>
          </a:blipFill>
        </p:spPr>
      </p:pic>
    </p:spTree>
    <p:extLst>
      <p:ext uri="{BB962C8B-B14F-4D97-AF65-F5344CB8AC3E}">
        <p14:creationId xmlns:p14="http://schemas.microsoft.com/office/powerpoint/2010/main" val="83249811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Papyrus"/>
        <a:ea typeface=""/>
        <a:cs typeface=""/>
      </a:majorFont>
      <a:minorFont>
        <a:latin typeface="Papyru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232</Words>
  <Application>Microsoft Office PowerPoint</Application>
  <PresentationFormat>On-screen Show (4:3)</PresentationFormat>
  <Paragraphs>27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Papyrus</vt:lpstr>
      <vt:lpstr>Office Theme</vt:lpstr>
      <vt:lpstr>PowerPoint Presentation</vt:lpstr>
      <vt:lpstr>JESUS IS SUPERIOR PRIEST TO MELCHESIDEK </vt:lpstr>
      <vt:lpstr>Introduction </vt:lpstr>
      <vt:lpstr>Considering Jesus (1)</vt:lpstr>
      <vt:lpstr>The House and the Builder (2-4)</vt:lpstr>
      <vt:lpstr>Jesus the greater Minister (5-6)</vt:lpstr>
      <vt:lpstr>CLOSING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JESUS IS SUPERIOR TO MOSES</dc:title>
  <dc:creator>DEREK</dc:creator>
  <cp:lastModifiedBy>derek dodd</cp:lastModifiedBy>
  <cp:revision>10</cp:revision>
  <dcterms:created xsi:type="dcterms:W3CDTF">2014-02-20T23:56:58Z</dcterms:created>
  <dcterms:modified xsi:type="dcterms:W3CDTF">2022-03-07T21:09:14Z</dcterms:modified>
</cp:coreProperties>
</file>